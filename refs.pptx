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8" r:id="rId2"/>
    <p:sldId id="269" r:id="rId3"/>
    <p:sldId id="270" r:id="rId4"/>
    <p:sldId id="274" r:id="rId5"/>
    <p:sldId id="272" r:id="rId6"/>
    <p:sldId id="273" r:id="rId7"/>
    <p:sldId id="278" r:id="rId8"/>
    <p:sldId id="279" r:id="rId9"/>
    <p:sldId id="277" r:id="rId10"/>
    <p:sldId id="280" r:id="rId11"/>
    <p:sldId id="281" r:id="rId12"/>
    <p:sldId id="282" r:id="rId13"/>
    <p:sldId id="284" r:id="rId14"/>
    <p:sldId id="28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46" d="100"/>
          <a:sy n="46" d="100"/>
        </p:scale>
        <p:origin x="48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6AA10-1995-F91F-5CD2-44AAFA2207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60A486-CF50-A540-A12D-C291118DD6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7238D2-AC31-5D62-D4D8-1901BF6B1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6691C-9CB6-4066-8A1B-542873C04C50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D30CF7-2B72-8727-1C52-CD59CC612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FB2293-C0E7-4464-2FDE-30365C2E6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52F18-0099-4F29-AD33-D8150BCB1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3323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35797-5803-E897-D878-5BA844657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8C8616-77F3-819A-E916-069F2BAA8B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D54851-4ADC-CA3A-0381-0ECF6CE2F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6691C-9CB6-4066-8A1B-542873C04C50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D29D55-5F9B-D8EB-A74A-CF20284FF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22A6E0-C4B0-6319-B792-F6FA44696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52F18-0099-4F29-AD33-D8150BCB1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074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151A1-0FE0-FED2-2693-98D37A42B3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3DD394-8EA3-D722-D14A-8DDD199D3C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AA58F2-CBA7-CE28-A22A-C5FC87005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6691C-9CB6-4066-8A1B-542873C04C50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9DBFA8-8A6E-4A8B-05F6-3425BEC89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F70672-CFF0-0DE2-68F3-498E10F12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52F18-0099-4F29-AD33-D8150BCB1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3156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9AC50-1615-3604-0B54-1912ECE94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CEEF15-1A23-931F-1B70-BE480EF701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5D682A-C5AD-9145-2E71-01672D1D5F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A97641-80D2-2DD8-F786-9A6B908F8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6691C-9CB6-4066-8A1B-542873C04C50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CCD13D-06E2-ACF3-0A2B-3B5B1CB40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DD3B16-9878-8D49-C24C-AFF6EAE6F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52F18-0099-4F29-AD33-D8150BCB1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6691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ED829-52FC-663E-7D7E-6B5057B13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39ABFD-45FA-5005-E224-5F0B501A1D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0A22C8-6533-DC80-C749-6DE7D0A628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C57F64-8A7C-6F50-DCAF-52FEDF78A9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3A0A4D-3F8D-7787-CB68-93A63D41C4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36FF80-B498-9955-6592-196C42204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6691C-9CB6-4066-8A1B-542873C04C50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D2ACB8-919E-1248-A4D0-5D472B1A0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4BF77C-FD0D-443E-9186-7A9D43B59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52F18-0099-4F29-AD33-D8150BCB1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035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24C86-2F5B-C6E0-7802-45CAC40AC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D59BC7-EED0-3723-643C-4850DFEB7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6691C-9CB6-4066-8A1B-542873C04C50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1667DC-126B-8584-DA37-00E319303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0566B1-ED69-C6DE-C6A0-86677062F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52F18-0099-4F29-AD33-D8150BCB1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6858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2D662F-9CE6-873B-7E34-4123F5946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6691C-9CB6-4066-8A1B-542873C04C50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EC163D-BCAF-649C-C0C5-033739F0C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26B0A8-E1DD-E2FD-C37D-299CC77A4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52F18-0099-4F29-AD33-D8150BCB1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221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7E9A0-2474-6B0B-EC78-7A9B6F7037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0996D5-5ECD-3F3C-8CB7-A7E6AD3CDE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D58BD4-701E-FAF0-E382-05270A4C42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4FDD11-0C4C-8F3A-07BD-4ACBB6835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6691C-9CB6-4066-8A1B-542873C04C50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BB5F6B-8CFB-B3BB-2E65-AB6FD3F1B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5C261B-38A8-E3B1-CC44-15C30D89E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52F18-0099-4F29-AD33-D8150BCB1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0331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334F5-B559-48A4-AB9D-087CC01F9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C51A09-9F1B-20F3-00D0-82B429562D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783201-73DC-F872-9FC8-2747DFE929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3739BF-E7D4-1264-E0EC-14C12AF45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6691C-9CB6-4066-8A1B-542873C04C50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D9F602-6446-80CA-01AB-36EE4C6EE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11A893-EE4B-7F69-2626-B5BBEA723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52F18-0099-4F29-AD33-D8150BCB1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1189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B9137-02A8-8D62-85B1-2D1038F09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C005F1-4BD7-3565-26A0-3272797738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2E206D-D4B6-BC8D-E9B9-209D3AD97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6691C-9CB6-4066-8A1B-542873C04C50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3E95F4-3CF0-ADE1-49A1-9662ABD33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36FF07-710C-52AC-64CF-05B75826F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52F18-0099-4F29-AD33-D8150BCB1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38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E86D508-C29B-7435-BC1A-08B2CEB176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E5440A-B741-85FC-BEC7-523A6CFAFC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9376A5-5FCF-704C-8246-1CBA07BDC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6691C-9CB6-4066-8A1B-542873C04C50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D92B11-ED7D-8CAA-5A92-8F7632D85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48F13C-65AD-59C6-6ACE-06C224C9A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52F18-0099-4F29-AD33-D8150BCB1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279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5551A7-F206-CCE5-6C2A-C619D3E4E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69F707-C32D-BF1A-D322-0611C19B94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1038C7-E764-9712-8EE5-E9BDDFA916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76691C-9CB6-4066-8A1B-542873C04C50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6D9F67-4CD1-406F-9DD3-3AFB3663F7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0CB2F6-D953-9510-5BF5-A19CA0DE3E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552F18-0099-4F29-AD33-D8150BCB10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708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22201D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32302C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32302C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32302C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32302C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32302C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32302C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32302C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32302C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32302C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5DB672E-A724-44FE-8072-A977C133E763}"/>
              </a:ext>
            </a:extLst>
          </p:cNvPr>
          <p:cNvSpPr/>
          <p:nvPr/>
        </p:nvSpPr>
        <p:spPr>
          <a:xfrm>
            <a:off x="838200" y="2108200"/>
            <a:ext cx="1778000" cy="76200"/>
          </a:xfrm>
          <a:prstGeom prst="rect">
            <a:avLst/>
          </a:prstGeom>
          <a:solidFill>
            <a:srgbClr val="9E422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5D4827-512D-4E1E-91A5-FA67BDC0CE16}"/>
              </a:ext>
            </a:extLst>
          </p:cNvPr>
          <p:cNvSpPr txBox="1"/>
          <p:nvPr/>
        </p:nvSpPr>
        <p:spPr>
          <a:xfrm>
            <a:off x="838200" y="1625600"/>
            <a:ext cx="762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9E4220"/>
                </a:solidFill>
              </a:rPr>
              <a:t>CAMPUS PLACEMENT PREP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18C295-8801-4128-B809-EF395E864A83}"/>
              </a:ext>
            </a:extLst>
          </p:cNvPr>
          <p:cNvSpPr txBox="1"/>
          <p:nvPr/>
        </p:nvSpPr>
        <p:spPr>
          <a:xfrm>
            <a:off x="812800" y="2540000"/>
            <a:ext cx="10541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4800" b="1">
                <a:solidFill>
                  <a:srgbClr val="22201D"/>
                </a:solidFill>
                <a:latin typeface="Georgia"/>
              </a:rPr>
              <a:t>Placement aptitude in 3 weeks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E0A650-9991-4985-8EED-700722114DFC}"/>
              </a:ext>
            </a:extLst>
          </p:cNvPr>
          <p:cNvSpPr txBox="1"/>
          <p:nvPr/>
        </p:nvSpPr>
        <p:spPr>
          <a:xfrm>
            <a:off x="838200" y="3784600"/>
            <a:ext cx="9144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000">
                <a:solidFill>
                  <a:srgbClr val="4A463F"/>
                </a:solidFill>
              </a:rPr>
              <a:t>A day-by-day plan, the full topic list, and the links worth using — for TCS NQT, Infosys, Wipro, Cognizant and Accenture aptitude rounds.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ECF469-FDA4-491B-86E4-78922C6BE97C}"/>
              </a:ext>
            </a:extLst>
          </p:cNvPr>
          <p:cNvSpPr txBox="1"/>
          <p:nvPr/>
        </p:nvSpPr>
        <p:spPr>
          <a:xfrm>
            <a:off x="838200" y="5029200"/>
            <a:ext cx="889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>
                <a:solidFill>
                  <a:srgbClr val="2F5D50"/>
                </a:solidFill>
              </a:rPr>
              <a:t>21 days · 2.5 hours a day · four sections</a:t>
            </a:r>
          </a:p>
        </p:txBody>
      </p:sp>
    </p:spTree>
    <p:extLst>
      <p:ext uri="{BB962C8B-B14F-4D97-AF65-F5344CB8AC3E}">
        <p14:creationId xmlns:p14="http://schemas.microsoft.com/office/powerpoint/2010/main" val="9796257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9B9E2-93F4-285B-4F5C-D69967BF7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/>
              <a:t>Every IT placement test is the same four sections, answered in under 90 seconds each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E69CD15-B043-426E-ADBD-D8E352D2B45B}"/>
              </a:ext>
            </a:extLst>
          </p:cNvPr>
          <p:cNvSpPr/>
          <p:nvPr/>
        </p:nvSpPr>
        <p:spPr>
          <a:xfrm>
            <a:off x="838200" y="2133600"/>
            <a:ext cx="2476500" cy="29464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3DCC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B05A59-A01A-4BFC-9842-211CCF261913}"/>
              </a:ext>
            </a:extLst>
          </p:cNvPr>
          <p:cNvSpPr txBox="1"/>
          <p:nvPr/>
        </p:nvSpPr>
        <p:spPr>
          <a:xfrm>
            <a:off x="1041400" y="2997200"/>
            <a:ext cx="2070100" cy="685800"/>
          </a:xfrm>
          <a:prstGeom prst="rect">
            <a:avLst/>
          </a:prstGeom>
          <a:noFill/>
        </p:spPr>
        <p:txBody>
          <a:bodyPr vertOverflow="overflow" vert="horz" wrap="square" rtlCol="0" anchor="b" anchorCtr="0">
            <a:noAutofit/>
          </a:bodyPr>
          <a:lstStyle/>
          <a:p>
            <a:pPr algn="l"/>
            <a:r>
              <a:rPr lang="en-US" b="1">
                <a:solidFill>
                  <a:srgbClr val="22201D"/>
                </a:solidFill>
              </a:rPr>
              <a:t>Quantitative aptitude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9349AB-BD00-40CE-8C50-092E63F4CDA2}"/>
              </a:ext>
            </a:extLst>
          </p:cNvPr>
          <p:cNvSpPr txBox="1"/>
          <p:nvPr/>
        </p:nvSpPr>
        <p:spPr>
          <a:xfrm>
            <a:off x="1041400" y="3708400"/>
            <a:ext cx="20701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4A463F"/>
                </a:solidFill>
              </a:rPr>
              <a:t>Number systems, percentages, ratios, time–speed–distance, interest, probability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127B567-70A2-4611-860A-C67F14B75369}"/>
              </a:ext>
            </a:extLst>
          </p:cNvPr>
          <p:cNvSpPr/>
          <p:nvPr/>
        </p:nvSpPr>
        <p:spPr>
          <a:xfrm>
            <a:off x="3517900" y="2133600"/>
            <a:ext cx="2476500" cy="29464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3DCC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8EAF7D-B62B-4C0E-A124-E1E14E6ABF34}"/>
              </a:ext>
            </a:extLst>
          </p:cNvPr>
          <p:cNvSpPr txBox="1"/>
          <p:nvPr/>
        </p:nvSpPr>
        <p:spPr>
          <a:xfrm>
            <a:off x="3721100" y="2997200"/>
            <a:ext cx="2070100" cy="685800"/>
          </a:xfrm>
          <a:prstGeom prst="rect">
            <a:avLst/>
          </a:prstGeom>
          <a:noFill/>
        </p:spPr>
        <p:txBody>
          <a:bodyPr vertOverflow="overflow" vert="horz" wrap="square" rtlCol="0" anchor="b" anchorCtr="0">
            <a:noAutofit/>
          </a:bodyPr>
          <a:lstStyle/>
          <a:p>
            <a:pPr algn="l"/>
            <a:r>
              <a:rPr lang="en-US" b="1">
                <a:solidFill>
                  <a:srgbClr val="22201D"/>
                </a:solidFill>
              </a:rPr>
              <a:t>Logical reasoning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45A567-D9E1-4AA3-93DC-6048A715AD6B}"/>
              </a:ext>
            </a:extLst>
          </p:cNvPr>
          <p:cNvSpPr txBox="1"/>
          <p:nvPr/>
        </p:nvSpPr>
        <p:spPr>
          <a:xfrm>
            <a:off x="3721100" y="3708400"/>
            <a:ext cx="20701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4A463F"/>
                </a:solidFill>
              </a:rPr>
              <a:t>Puzzles, syllogisms, blood relations, coding–decoding, series, seating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55D778D-483F-4FA3-AB0F-F059B9C8DA75}"/>
              </a:ext>
            </a:extLst>
          </p:cNvPr>
          <p:cNvSpPr/>
          <p:nvPr/>
        </p:nvSpPr>
        <p:spPr>
          <a:xfrm>
            <a:off x="6197600" y="2133600"/>
            <a:ext cx="2476500" cy="29464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3DCC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59C354-A13F-477C-98CC-F309615AF775}"/>
              </a:ext>
            </a:extLst>
          </p:cNvPr>
          <p:cNvSpPr txBox="1"/>
          <p:nvPr/>
        </p:nvSpPr>
        <p:spPr>
          <a:xfrm>
            <a:off x="6400800" y="2997200"/>
            <a:ext cx="2070100" cy="685800"/>
          </a:xfrm>
          <a:prstGeom prst="rect">
            <a:avLst/>
          </a:prstGeom>
          <a:noFill/>
        </p:spPr>
        <p:txBody>
          <a:bodyPr vertOverflow="overflow" vert="horz" wrap="square" rtlCol="0" anchor="b" anchorCtr="0">
            <a:noAutofit/>
          </a:bodyPr>
          <a:lstStyle/>
          <a:p>
            <a:pPr algn="l"/>
            <a:r>
              <a:rPr lang="en-US" b="1">
                <a:solidFill>
                  <a:srgbClr val="22201D"/>
                </a:solidFill>
              </a:rPr>
              <a:t>Verbal ability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2F133F0-A1E7-45BE-9E23-9A327AABF785}"/>
              </a:ext>
            </a:extLst>
          </p:cNvPr>
          <p:cNvSpPr txBox="1"/>
          <p:nvPr/>
        </p:nvSpPr>
        <p:spPr>
          <a:xfrm>
            <a:off x="6400800" y="3708400"/>
            <a:ext cx="20701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4A463F"/>
                </a:solidFill>
              </a:rPr>
              <a:t>Reading comprehension, sentence correction, grammar rules, vocabulary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2F8421A-3F75-4212-BE6B-5AC1466990EF}"/>
              </a:ext>
            </a:extLst>
          </p:cNvPr>
          <p:cNvSpPr/>
          <p:nvPr/>
        </p:nvSpPr>
        <p:spPr>
          <a:xfrm>
            <a:off x="8877300" y="2133600"/>
            <a:ext cx="2476500" cy="29464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3DCC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2573C6-AAFF-486A-A47E-BE699C3E6DAA}"/>
              </a:ext>
            </a:extLst>
          </p:cNvPr>
          <p:cNvSpPr txBox="1"/>
          <p:nvPr/>
        </p:nvSpPr>
        <p:spPr>
          <a:xfrm>
            <a:off x="9080500" y="2997200"/>
            <a:ext cx="2070100" cy="685800"/>
          </a:xfrm>
          <a:prstGeom prst="rect">
            <a:avLst/>
          </a:prstGeom>
          <a:noFill/>
        </p:spPr>
        <p:txBody>
          <a:bodyPr vertOverflow="overflow" vert="horz" wrap="square" rtlCol="0" anchor="b" anchorCtr="0">
            <a:noAutofit/>
          </a:bodyPr>
          <a:lstStyle/>
          <a:p>
            <a:pPr algn="l"/>
            <a:r>
              <a:rPr lang="en-US" b="1">
                <a:solidFill>
                  <a:srgbClr val="22201D"/>
                </a:solidFill>
              </a:rPr>
              <a:t>Data interpretation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1B56697-942A-423E-821F-4AC234785452}"/>
              </a:ext>
            </a:extLst>
          </p:cNvPr>
          <p:cNvSpPr txBox="1"/>
          <p:nvPr/>
        </p:nvSpPr>
        <p:spPr>
          <a:xfrm>
            <a:off x="9080500" y="3708400"/>
            <a:ext cx="20701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4A463F"/>
                </a:solidFill>
              </a:rPr>
              <a:t>Tables, bar charts, pie charts, line graphs — read fast, calculate faster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84CC096-21C1-4E4A-855B-B4F7A2A2175E}"/>
              </a:ext>
            </a:extLst>
          </p:cNvPr>
          <p:cNvSpPr txBox="1"/>
          <p:nvPr/>
        </p:nvSpPr>
        <p:spPr>
          <a:xfrm>
            <a:off x="838200" y="5384800"/>
            <a:ext cx="105156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4A463F"/>
                </a:solidFill>
              </a:rPr>
              <a:t>TCS NQT adds a coding section: the full iON test runs about 190 minutes (Foundation ~75 min, Advanced ~115 min). Cognizant GenC, Accenture and Capgemini use the same four sections with different weightings and cut-offs.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1CF38A7-16E6-4B05-96C4-7321360BC82E}"/>
              </a:ext>
            </a:extLst>
          </p:cNvPr>
          <p:cNvSpPr txBox="1"/>
          <p:nvPr/>
        </p:nvSpPr>
        <p:spPr>
          <a:xfrm>
            <a:off x="838200" y="6121400"/>
            <a:ext cx="105156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>
                <a:solidFill>
                  <a:srgbClr val="6A655D"/>
                </a:solidFill>
              </a:rPr>
              <a:t>Source: PlacementPreparation.io and FACE Prep platform guides, 2026.</a:t>
            </a:r>
          </a:p>
        </p:txBody>
      </p:sp>
      <p:pic>
        <p:nvPicPr>
          <p:cNvPr id="17" name="Graphic 17" descr="Quantitative aptitud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1400" y="2438400"/>
            <a:ext cx="457200" cy="457200"/>
          </a:xfrm>
          <a:prstGeom prst="rect">
            <a:avLst/>
          </a:prstGeom>
        </p:spPr>
      </p:pic>
      <p:pic>
        <p:nvPicPr>
          <p:cNvPr id="18" name="Graphic 18" descr="Logical reasoni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21100" y="2438400"/>
            <a:ext cx="457200" cy="457200"/>
          </a:xfrm>
          <a:prstGeom prst="rect">
            <a:avLst/>
          </a:prstGeom>
        </p:spPr>
      </p:pic>
      <p:pic>
        <p:nvPicPr>
          <p:cNvPr id="19" name="Graphic 19" descr="Verbal ability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00800" y="2438400"/>
            <a:ext cx="457200" cy="457200"/>
          </a:xfrm>
          <a:prstGeom prst="rect">
            <a:avLst/>
          </a:prstGeom>
        </p:spPr>
      </p:pic>
      <p:pic>
        <p:nvPicPr>
          <p:cNvPr id="20" name="Graphic 20" descr="Data interpretati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80500" y="2438400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7453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727E5-E0F2-4D87-69A9-F8559C861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/>
              <a:t>Three weeks, three jobs: build the concepts, then the speed, then the exam day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829B35-08FD-457E-9DC2-523D21FED782}"/>
              </a:ext>
            </a:extLst>
          </p:cNvPr>
          <p:cNvSpPr/>
          <p:nvPr/>
        </p:nvSpPr>
        <p:spPr>
          <a:xfrm>
            <a:off x="838200" y="2133600"/>
            <a:ext cx="3302000" cy="37084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1E71FA1-0307-48FA-B41A-A436B9E957A9}"/>
              </a:ext>
            </a:extLst>
          </p:cNvPr>
          <p:cNvSpPr/>
          <p:nvPr/>
        </p:nvSpPr>
        <p:spPr>
          <a:xfrm>
            <a:off x="838200" y="2133600"/>
            <a:ext cx="3302000" cy="63500"/>
          </a:xfrm>
          <a:prstGeom prst="rect">
            <a:avLst/>
          </a:prstGeom>
          <a:solidFill>
            <a:srgbClr val="9E422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1881BB-289F-48DE-85C1-82CB14B71BB3}"/>
              </a:ext>
            </a:extLst>
          </p:cNvPr>
          <p:cNvSpPr txBox="1"/>
          <p:nvPr/>
        </p:nvSpPr>
        <p:spPr>
          <a:xfrm>
            <a:off x="1066800" y="2362200"/>
            <a:ext cx="28448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9E4220"/>
                </a:solidFill>
              </a:rPr>
              <a:t>WEEK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7CB4E1-22F5-4183-AE99-25F3601A2ED3}"/>
              </a:ext>
            </a:extLst>
          </p:cNvPr>
          <p:cNvSpPr txBox="1"/>
          <p:nvPr/>
        </p:nvSpPr>
        <p:spPr>
          <a:xfrm>
            <a:off x="1041400" y="2641600"/>
            <a:ext cx="28448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000" b="1">
                <a:solidFill>
                  <a:srgbClr val="22201D"/>
                </a:solidFill>
                <a:latin typeface="Georgia"/>
              </a:rPr>
              <a:t>Build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2CB105-9D10-462A-8D66-B4F3B995BBE4}"/>
              </a:ext>
            </a:extLst>
          </p:cNvPr>
          <p:cNvSpPr txBox="1"/>
          <p:nvPr/>
        </p:nvSpPr>
        <p:spPr>
          <a:xfrm>
            <a:off x="1066800" y="3251200"/>
            <a:ext cx="2844800" cy="190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4A463F"/>
                </a:solidFill>
              </a:rPr>
              <a:t>Relearn the arithmetic and reasoning basics from scratch.
Two new topics a day, solved untimed, long method first.
Write every formula into one sheet you will reuse.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3C6BFD-FD7C-4FAE-86C4-7E25E0A5F1D8}"/>
              </a:ext>
            </a:extLst>
          </p:cNvPr>
          <p:cNvSpPr txBox="1"/>
          <p:nvPr/>
        </p:nvSpPr>
        <p:spPr>
          <a:xfrm>
            <a:off x="1066800" y="5232400"/>
            <a:ext cx="28448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2F5D50"/>
                </a:solidFill>
              </a:rPr>
              <a:t>Target: 70% accuracy, no clock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86A1C63-EDA1-44D5-AF07-7EFF6185EE04}"/>
              </a:ext>
            </a:extLst>
          </p:cNvPr>
          <p:cNvSpPr/>
          <p:nvPr/>
        </p:nvSpPr>
        <p:spPr>
          <a:xfrm>
            <a:off x="4445000" y="2133600"/>
            <a:ext cx="3302000" cy="37084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0067A89-3BA0-479B-A11B-485DE7AB7E5B}"/>
              </a:ext>
            </a:extLst>
          </p:cNvPr>
          <p:cNvSpPr/>
          <p:nvPr/>
        </p:nvSpPr>
        <p:spPr>
          <a:xfrm>
            <a:off x="4445000" y="2133600"/>
            <a:ext cx="3302000" cy="63500"/>
          </a:xfrm>
          <a:prstGeom prst="rect">
            <a:avLst/>
          </a:prstGeom>
          <a:solidFill>
            <a:srgbClr val="9E422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29C141-E914-4EBF-94C2-87A522E2B276}"/>
              </a:ext>
            </a:extLst>
          </p:cNvPr>
          <p:cNvSpPr txBox="1"/>
          <p:nvPr/>
        </p:nvSpPr>
        <p:spPr>
          <a:xfrm>
            <a:off x="4673600" y="2362200"/>
            <a:ext cx="28448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9E4220"/>
                </a:solidFill>
              </a:rPr>
              <a:t>WEEK 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99CB49B-C0D0-4204-9F5B-DE159ABD4D9A}"/>
              </a:ext>
            </a:extLst>
          </p:cNvPr>
          <p:cNvSpPr txBox="1"/>
          <p:nvPr/>
        </p:nvSpPr>
        <p:spPr>
          <a:xfrm>
            <a:off x="4648200" y="2641600"/>
            <a:ext cx="28448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000" b="1">
                <a:solidFill>
                  <a:srgbClr val="22201D"/>
                </a:solidFill>
                <a:latin typeface="Georgia"/>
              </a:rPr>
              <a:t>Speed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A5A5D0B-F912-4846-BD7F-451B86917CD4}"/>
              </a:ext>
            </a:extLst>
          </p:cNvPr>
          <p:cNvSpPr txBox="1"/>
          <p:nvPr/>
        </p:nvSpPr>
        <p:spPr>
          <a:xfrm>
            <a:off x="4673600" y="3251200"/>
            <a:ext cx="2844800" cy="190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4A463F"/>
                </a:solidFill>
              </a:rPr>
              <a:t>Same topics, now against a timer, plus shortcut techniques.
Add data interpretation sets and two reading passages a day.
Start a written error log of every question you get wrong.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8E88BB1-8B0E-4D49-B433-A55A24F56A0D}"/>
              </a:ext>
            </a:extLst>
          </p:cNvPr>
          <p:cNvSpPr txBox="1"/>
          <p:nvPr/>
        </p:nvSpPr>
        <p:spPr>
          <a:xfrm>
            <a:off x="4673600" y="5232400"/>
            <a:ext cx="28448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2F5D50"/>
                </a:solidFill>
              </a:rPr>
              <a:t>Target: under 60 seconds a question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A9ACB8E-90BA-42D8-BC03-93F7F8F4A18F}"/>
              </a:ext>
            </a:extLst>
          </p:cNvPr>
          <p:cNvSpPr/>
          <p:nvPr/>
        </p:nvSpPr>
        <p:spPr>
          <a:xfrm>
            <a:off x="8051800" y="2133600"/>
            <a:ext cx="3302000" cy="37084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1ECF7B6-63AE-4845-9DAE-958130277BA8}"/>
              </a:ext>
            </a:extLst>
          </p:cNvPr>
          <p:cNvSpPr/>
          <p:nvPr/>
        </p:nvSpPr>
        <p:spPr>
          <a:xfrm>
            <a:off x="8051800" y="2133600"/>
            <a:ext cx="3302000" cy="63500"/>
          </a:xfrm>
          <a:prstGeom prst="rect">
            <a:avLst/>
          </a:prstGeom>
          <a:solidFill>
            <a:srgbClr val="9E422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F1A21AF-0DCE-4654-95E1-177E59A912CD}"/>
              </a:ext>
            </a:extLst>
          </p:cNvPr>
          <p:cNvSpPr txBox="1"/>
          <p:nvPr/>
        </p:nvSpPr>
        <p:spPr>
          <a:xfrm>
            <a:off x="8280400" y="2362200"/>
            <a:ext cx="28448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9E4220"/>
                </a:solidFill>
              </a:rPr>
              <a:t>WEEK 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78E0403-220B-40F7-A872-3B99DF59EC47}"/>
              </a:ext>
            </a:extLst>
          </p:cNvPr>
          <p:cNvSpPr txBox="1"/>
          <p:nvPr/>
        </p:nvSpPr>
        <p:spPr>
          <a:xfrm>
            <a:off x="8255000" y="2641600"/>
            <a:ext cx="28448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000" b="1">
                <a:solidFill>
                  <a:srgbClr val="22201D"/>
                </a:solidFill>
                <a:latin typeface="Georgia"/>
              </a:rPr>
              <a:t>Simulate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883D248-DD10-4391-8895-51DB6A485C6C}"/>
              </a:ext>
            </a:extLst>
          </p:cNvPr>
          <p:cNvSpPr txBox="1"/>
          <p:nvPr/>
        </p:nvSpPr>
        <p:spPr>
          <a:xfrm>
            <a:off x="8280400" y="3251200"/>
            <a:ext cx="2844800" cy="190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4A463F"/>
                </a:solidFill>
              </a:rPr>
              <a:t>Full-length timed mocks on the actual company patterns.
One mock a day, then 45 minutes reviewing every wrong answer.
Re-solve the error log instead of starting new topics.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1339637-D9A7-4C1C-BD11-8B527D45ED6F}"/>
              </a:ext>
            </a:extLst>
          </p:cNvPr>
          <p:cNvSpPr txBox="1"/>
          <p:nvPr/>
        </p:nvSpPr>
        <p:spPr>
          <a:xfrm>
            <a:off x="8280400" y="5232400"/>
            <a:ext cx="28448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2F5D50"/>
                </a:solidFill>
              </a:rPr>
              <a:t>Target: 80% in a 90-minute paper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873C92F-ABB9-4569-8814-975B24D9482C}"/>
              </a:ext>
            </a:extLst>
          </p:cNvPr>
          <p:cNvSpPr txBox="1"/>
          <p:nvPr/>
        </p:nvSpPr>
        <p:spPr>
          <a:xfrm>
            <a:off x="838200" y="6070600"/>
            <a:ext cx="105156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>
                <a:solidFill>
                  <a:srgbClr val="6A655D"/>
                </a:solidFill>
              </a:rPr>
              <a:t>Sections are scored separately on most drives, so a strong quant score will not rescue a failed verbal section. Keep all four moving every week.</a:t>
            </a:r>
          </a:p>
        </p:txBody>
      </p:sp>
    </p:spTree>
    <p:extLst>
      <p:ext uri="{BB962C8B-B14F-4D97-AF65-F5344CB8AC3E}">
        <p14:creationId xmlns:p14="http://schemas.microsoft.com/office/powerpoint/2010/main" val="33007123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4B832-B789-4AD6-4195-9B41A8AD4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/>
              <a:t>What to cover, week by week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B1255D4-04B2-49CF-8DE8-5B5D84B916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8641989"/>
              </p:ext>
            </p:extLst>
          </p:nvPr>
        </p:nvGraphicFramePr>
        <p:xfrm>
          <a:off x="838200" y="2108200"/>
          <a:ext cx="10515600" cy="39116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3410424268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4016813108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561511171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821631044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r>
                        <a:rPr lang="en-US" sz="1500" b="1" dirty="0">
                          <a:solidFill>
                            <a:srgbClr val="22201D"/>
                          </a:solidFill>
                        </a:rPr>
                        <a:t>Week</a:t>
                      </a:r>
                    </a:p>
                  </a:txBody>
                  <a:tcPr marL="0" marR="121920" marT="68580" marB="6858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 cap="flat">
                      <a:solidFill>
                        <a:srgbClr val="22201D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>
                          <a:solidFill>
                            <a:srgbClr val="22201D"/>
                          </a:solidFill>
                        </a:rPr>
                        <a:t>Quantitative aptitude</a:t>
                      </a:r>
                    </a:p>
                  </a:txBody>
                  <a:tcPr marL="0" marR="121920" marT="68580" marB="6858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 cap="flat">
                      <a:solidFill>
                        <a:srgbClr val="22201D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>
                          <a:solidFill>
                            <a:srgbClr val="22201D"/>
                          </a:solidFill>
                        </a:rPr>
                        <a:t>Logical reasoning</a:t>
                      </a:r>
                    </a:p>
                  </a:txBody>
                  <a:tcPr marL="0" marR="121920" marT="68580" marB="6858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 cap="flat">
                      <a:solidFill>
                        <a:srgbClr val="22201D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>
                          <a:solidFill>
                            <a:srgbClr val="22201D"/>
                          </a:solidFill>
                        </a:rPr>
                        <a:t>Verbal ability</a:t>
                      </a:r>
                    </a:p>
                  </a:txBody>
                  <a:tcPr marL="0" marR="121920" marT="68580" marB="6858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 cap="flat">
                      <a:solidFill>
                        <a:srgbClr val="22201D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7001355"/>
                  </a:ext>
                </a:extLst>
              </a:tr>
              <a:tr h="1168400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9E4220"/>
                          </a:solidFill>
                        </a:rPr>
                        <a:t>Week 1
Build</a:t>
                      </a:r>
                    </a:p>
                  </a:txBody>
                  <a:tcPr marL="0" marR="121920" marT="68580" marB="68580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E3DCC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32302C"/>
                          </a:solidFill>
                        </a:rPr>
                        <a:t>Number systems · Percentages · Ratio and proportion · Averages · Profit and loss</a:t>
                      </a:r>
                    </a:p>
                  </a:txBody>
                  <a:tcPr marL="0" marR="121920" marT="68580" marB="68580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E3DCC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32302C"/>
                          </a:solidFill>
                        </a:rPr>
                        <a:t>Number and letter series · Coding–decoding · Blood relations · Directions</a:t>
                      </a:r>
                    </a:p>
                  </a:txBody>
                  <a:tcPr marL="0" marR="121920" marT="68580" marB="68580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E3DCC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32302C"/>
                          </a:solidFill>
                        </a:rPr>
                        <a:t>Grammar rules · Sentence correction · Synonyms and antonyms</a:t>
                      </a:r>
                    </a:p>
                  </a:txBody>
                  <a:tcPr marL="0" marR="121920" marT="68580" marB="68580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E3DCC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6248216"/>
                  </a:ext>
                </a:extLst>
              </a:tr>
              <a:tr h="1168400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9E4220"/>
                          </a:solidFill>
                        </a:rPr>
                        <a:t>Week 2
Speed</a:t>
                      </a:r>
                    </a:p>
                  </a:txBody>
                  <a:tcPr marL="0" marR="121920" marT="68580" marB="68580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E3DCC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32302C"/>
                          </a:solidFill>
                        </a:rPr>
                        <a:t>Time–speed–distance · Time and work · Pipes and cisterns · Simple and compound interest · Mixtures</a:t>
                      </a:r>
                    </a:p>
                  </a:txBody>
                  <a:tcPr marL="0" marR="121920" marT="68580" marB="68580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E3DCC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32302C"/>
                          </a:solidFill>
                        </a:rPr>
                        <a:t>Syllogisms · Seating arrangement · Puzzles · Statement and conclusion · Clocks and calendars</a:t>
                      </a:r>
                    </a:p>
                  </a:txBody>
                  <a:tcPr marL="0" marR="121920" marT="68580" marB="68580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E3DCC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32302C"/>
                          </a:solidFill>
                        </a:rPr>
                        <a:t>Reading comprehension · Para jumbles · Sentence completion</a:t>
                      </a:r>
                    </a:p>
                  </a:txBody>
                  <a:tcPr marL="0" marR="121920" marT="68580" marB="68580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E3DCC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476937"/>
                  </a:ext>
                </a:extLst>
              </a:tr>
              <a:tr h="1168400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9E4220"/>
                          </a:solidFill>
                        </a:rPr>
                        <a:t>Week 3
Simulate</a:t>
                      </a:r>
                    </a:p>
                  </a:txBody>
                  <a:tcPr marL="0" marR="121920" marT="68580" marB="68580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E3DCC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32302C"/>
                          </a:solidFill>
                        </a:rPr>
                        <a:t>Permutation and combination · Probability · Mensuration · Data interpretation sets</a:t>
                      </a:r>
                    </a:p>
                  </a:txBody>
                  <a:tcPr marL="0" marR="121920" marT="68580" marB="68580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E3DCC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32302C"/>
                          </a:solidFill>
                        </a:rPr>
                        <a:t>Mixed puzzle sets under time · Non-verbal and figure series</a:t>
                      </a:r>
                    </a:p>
                  </a:txBody>
                  <a:tcPr marL="0" marR="121920" marT="68580" marB="68580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E3DCC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32302C"/>
                          </a:solidFill>
                        </a:rPr>
                        <a:t>Full verbal sections from mocks · Error log revision</a:t>
                      </a:r>
                    </a:p>
                  </a:txBody>
                  <a:tcPr marL="0" marR="121920" marT="68580" marB="68580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3DC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E3DCC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30599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9848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BB376-88AD-8811-0E82-9B51968D6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/>
              <a:t>Quick links: six sites cover the whole three weeks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7FF2089-570B-4C8A-80CC-B821D2D664FD}"/>
              </a:ext>
            </a:extLst>
          </p:cNvPr>
          <p:cNvSpPr/>
          <p:nvPr/>
        </p:nvSpPr>
        <p:spPr>
          <a:xfrm>
            <a:off x="838200" y="2108200"/>
            <a:ext cx="3302000" cy="177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0D02E99-DAC8-4066-9924-A0065C6505BD}"/>
              </a:ext>
            </a:extLst>
          </p:cNvPr>
          <p:cNvSpPr/>
          <p:nvPr/>
        </p:nvSpPr>
        <p:spPr>
          <a:xfrm>
            <a:off x="838200" y="2108200"/>
            <a:ext cx="50800" cy="1778000"/>
          </a:xfrm>
          <a:prstGeom prst="rect">
            <a:avLst/>
          </a:prstGeom>
          <a:solidFill>
            <a:srgbClr val="9E422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F12F61-7001-448B-9A18-037787BB6117}"/>
              </a:ext>
            </a:extLst>
          </p:cNvPr>
          <p:cNvSpPr txBox="1"/>
          <p:nvPr/>
        </p:nvSpPr>
        <p:spPr>
          <a:xfrm>
            <a:off x="1066800" y="2286000"/>
            <a:ext cx="28702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>
                <a:solidFill>
                  <a:srgbClr val="22201D"/>
                </a:solidFill>
              </a:rPr>
              <a:t>IndiaBix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E821F4-B34B-4E98-B88F-263832522839}"/>
              </a:ext>
            </a:extLst>
          </p:cNvPr>
          <p:cNvSpPr txBox="1"/>
          <p:nvPr/>
        </p:nvSpPr>
        <p:spPr>
          <a:xfrm>
            <a:off x="1066800" y="2616200"/>
            <a:ext cx="28702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2F5D50"/>
                </a:solidFill>
              </a:rPr>
              <a:t>indiabix.com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1AE53E-59B7-4A9C-BA1E-888B96866879}"/>
              </a:ext>
            </a:extLst>
          </p:cNvPr>
          <p:cNvSpPr txBox="1"/>
          <p:nvPr/>
        </p:nvSpPr>
        <p:spPr>
          <a:xfrm>
            <a:off x="1066800" y="2921000"/>
            <a:ext cx="28702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>
                <a:solidFill>
                  <a:srgbClr val="4A463F"/>
                </a:solidFill>
              </a:rPr>
              <a:t>The widest free topic-wise question bank. Where Week 1 practice happens.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609562B-5771-40D8-9EC9-37C7728EBE70}"/>
              </a:ext>
            </a:extLst>
          </p:cNvPr>
          <p:cNvSpPr/>
          <p:nvPr/>
        </p:nvSpPr>
        <p:spPr>
          <a:xfrm>
            <a:off x="4445000" y="2108200"/>
            <a:ext cx="3302000" cy="177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986C4C8-63A2-406D-BD6E-FC377FB3F468}"/>
              </a:ext>
            </a:extLst>
          </p:cNvPr>
          <p:cNvSpPr/>
          <p:nvPr/>
        </p:nvSpPr>
        <p:spPr>
          <a:xfrm>
            <a:off x="4445000" y="2108200"/>
            <a:ext cx="50800" cy="1778000"/>
          </a:xfrm>
          <a:prstGeom prst="rect">
            <a:avLst/>
          </a:prstGeom>
          <a:solidFill>
            <a:srgbClr val="9E422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B3C4B0C-4DAF-4D9C-BD06-57E1697994F0}"/>
              </a:ext>
            </a:extLst>
          </p:cNvPr>
          <p:cNvSpPr txBox="1"/>
          <p:nvPr/>
        </p:nvSpPr>
        <p:spPr>
          <a:xfrm>
            <a:off x="4673600" y="2286000"/>
            <a:ext cx="28702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>
                <a:solidFill>
                  <a:srgbClr val="22201D"/>
                </a:solidFill>
              </a:rPr>
              <a:t>GeeksforGeeks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D9BA6FB-53EA-4E86-A3D3-8B2523DB8EC2}"/>
              </a:ext>
            </a:extLst>
          </p:cNvPr>
          <p:cNvSpPr txBox="1"/>
          <p:nvPr/>
        </p:nvSpPr>
        <p:spPr>
          <a:xfrm>
            <a:off x="4673600" y="2616200"/>
            <a:ext cx="28702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2F5D50"/>
                </a:solidFill>
              </a:rPr>
              <a:t>geeksforgeeks.org/aptitude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D7E0C45-B9A9-41E2-AAD6-412D0ADFBEA9}"/>
              </a:ext>
            </a:extLst>
          </p:cNvPr>
          <p:cNvSpPr txBox="1"/>
          <p:nvPr/>
        </p:nvSpPr>
        <p:spPr>
          <a:xfrm>
            <a:off x="4673600" y="2921000"/>
            <a:ext cx="28702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>
                <a:solidFill>
                  <a:srgbClr val="4A463F"/>
                </a:solidFill>
              </a:rPr>
              <a:t>Concepts with worked solutions, plus a TCS NQT guide with MCQ banks and videos.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FD395E9-B2A6-4820-87CD-D46ADF61A617}"/>
              </a:ext>
            </a:extLst>
          </p:cNvPr>
          <p:cNvSpPr/>
          <p:nvPr/>
        </p:nvSpPr>
        <p:spPr>
          <a:xfrm>
            <a:off x="8051800" y="2108200"/>
            <a:ext cx="3302000" cy="177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9095913-3F71-4465-9C25-06D6B5204889}"/>
              </a:ext>
            </a:extLst>
          </p:cNvPr>
          <p:cNvSpPr/>
          <p:nvPr/>
        </p:nvSpPr>
        <p:spPr>
          <a:xfrm>
            <a:off x="8051800" y="2108200"/>
            <a:ext cx="50800" cy="1778000"/>
          </a:xfrm>
          <a:prstGeom prst="rect">
            <a:avLst/>
          </a:prstGeom>
          <a:solidFill>
            <a:srgbClr val="9E422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2D3B654-8D97-41BA-962B-28628F216348}"/>
              </a:ext>
            </a:extLst>
          </p:cNvPr>
          <p:cNvSpPr txBox="1"/>
          <p:nvPr/>
        </p:nvSpPr>
        <p:spPr>
          <a:xfrm>
            <a:off x="8280400" y="2286000"/>
            <a:ext cx="28702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>
                <a:solidFill>
                  <a:srgbClr val="22201D"/>
                </a:solidFill>
              </a:rPr>
              <a:t>PrepInsta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92CA58D-8086-401F-B738-B15356DDD1CA}"/>
              </a:ext>
            </a:extLst>
          </p:cNvPr>
          <p:cNvSpPr txBox="1"/>
          <p:nvPr/>
        </p:nvSpPr>
        <p:spPr>
          <a:xfrm>
            <a:off x="8280400" y="2616200"/>
            <a:ext cx="28702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2F5D50"/>
                </a:solidFill>
              </a:rPr>
              <a:t>prepinsta.com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289879F-AB15-4FE2-B3DB-EEE5173841B0}"/>
              </a:ext>
            </a:extLst>
          </p:cNvPr>
          <p:cNvSpPr txBox="1"/>
          <p:nvPr/>
        </p:nvSpPr>
        <p:spPr>
          <a:xfrm>
            <a:off x="8280400" y="2921000"/>
            <a:ext cx="28702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>
                <a:solidFill>
                  <a:srgbClr val="4A463F"/>
                </a:solidFill>
              </a:rPr>
              <a:t>Test patterns and question sets for 50+ companies, including the Wipro essay round.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2EEF5D8-EFD0-4417-A102-5998833454D0}"/>
              </a:ext>
            </a:extLst>
          </p:cNvPr>
          <p:cNvSpPr/>
          <p:nvPr/>
        </p:nvSpPr>
        <p:spPr>
          <a:xfrm>
            <a:off x="838200" y="4089400"/>
            <a:ext cx="3302000" cy="177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C724CF1-89B7-4D7F-9909-38AACBAC746D}"/>
              </a:ext>
            </a:extLst>
          </p:cNvPr>
          <p:cNvSpPr/>
          <p:nvPr/>
        </p:nvSpPr>
        <p:spPr>
          <a:xfrm>
            <a:off x="838200" y="4089400"/>
            <a:ext cx="50800" cy="1778000"/>
          </a:xfrm>
          <a:prstGeom prst="rect">
            <a:avLst/>
          </a:prstGeom>
          <a:solidFill>
            <a:srgbClr val="9E422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BEDD281-0F0E-42FA-9FDA-D36AD31FA0AD}"/>
              </a:ext>
            </a:extLst>
          </p:cNvPr>
          <p:cNvSpPr txBox="1"/>
          <p:nvPr/>
        </p:nvSpPr>
        <p:spPr>
          <a:xfrm>
            <a:off x="1066800" y="4267200"/>
            <a:ext cx="28702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>
                <a:solidFill>
                  <a:srgbClr val="22201D"/>
                </a:solidFill>
              </a:rPr>
              <a:t>TCS iON Hub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2988A91-99B5-407E-A237-0F947F194BF9}"/>
              </a:ext>
            </a:extLst>
          </p:cNvPr>
          <p:cNvSpPr txBox="1"/>
          <p:nvPr/>
        </p:nvSpPr>
        <p:spPr>
          <a:xfrm>
            <a:off x="1066800" y="4597400"/>
            <a:ext cx="28702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2F5D50"/>
                </a:solidFill>
              </a:rPr>
              <a:t>learning.tcsionhub.in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E036CA1-A76D-438C-BA46-823B3098B88D}"/>
              </a:ext>
            </a:extLst>
          </p:cNvPr>
          <p:cNvSpPr txBox="1"/>
          <p:nvPr/>
        </p:nvSpPr>
        <p:spPr>
          <a:xfrm>
            <a:off x="1066800" y="4902200"/>
            <a:ext cx="28702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>
                <a:solidFill>
                  <a:srgbClr val="4A463F"/>
                </a:solidFill>
              </a:rPr>
              <a:t>Official NQT practice on the real test interface. Removes test-day friction.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E57B685-23AD-426D-B6E0-DB9297F51D98}"/>
              </a:ext>
            </a:extLst>
          </p:cNvPr>
          <p:cNvSpPr/>
          <p:nvPr/>
        </p:nvSpPr>
        <p:spPr>
          <a:xfrm>
            <a:off x="4445000" y="4089400"/>
            <a:ext cx="3302000" cy="177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16CD319-FFBD-440C-98CE-2E31C2B3E9D5}"/>
              </a:ext>
            </a:extLst>
          </p:cNvPr>
          <p:cNvSpPr/>
          <p:nvPr/>
        </p:nvSpPr>
        <p:spPr>
          <a:xfrm>
            <a:off x="4445000" y="4089400"/>
            <a:ext cx="50800" cy="1778000"/>
          </a:xfrm>
          <a:prstGeom prst="rect">
            <a:avLst/>
          </a:prstGeom>
          <a:solidFill>
            <a:srgbClr val="9E422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149DF8D-32AA-49F3-B0DA-3CEA6DC69BE2}"/>
              </a:ext>
            </a:extLst>
          </p:cNvPr>
          <p:cNvSpPr txBox="1"/>
          <p:nvPr/>
        </p:nvSpPr>
        <p:spPr>
          <a:xfrm>
            <a:off x="4673600" y="4267200"/>
            <a:ext cx="28702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>
                <a:solidFill>
                  <a:srgbClr val="22201D"/>
                </a:solidFill>
              </a:rPr>
              <a:t>FACE Prep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6B4EC06-47FE-4C51-93A6-E98E7C6DAFC7}"/>
              </a:ext>
            </a:extLst>
          </p:cNvPr>
          <p:cNvSpPr txBox="1"/>
          <p:nvPr/>
        </p:nvSpPr>
        <p:spPr>
          <a:xfrm>
            <a:off x="4673600" y="4597400"/>
            <a:ext cx="28702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2F5D50"/>
                </a:solidFill>
              </a:rPr>
              <a:t>faceprep.in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50D3821-C113-4EEE-A94B-7EE104453640}"/>
              </a:ext>
            </a:extLst>
          </p:cNvPr>
          <p:cNvSpPr txBox="1"/>
          <p:nvPr/>
        </p:nvSpPr>
        <p:spPr>
          <a:xfrm>
            <a:off x="4673600" y="4902200"/>
            <a:ext cx="28702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>
                <a:solidFill>
                  <a:srgbClr val="4A463F"/>
                </a:solidFill>
              </a:rPr>
              <a:t>Concept videos and NQT-mapped questions that show the working, not just the answer.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0523FD3-051D-478D-86C0-720BC63EDFFA}"/>
              </a:ext>
            </a:extLst>
          </p:cNvPr>
          <p:cNvSpPr/>
          <p:nvPr/>
        </p:nvSpPr>
        <p:spPr>
          <a:xfrm>
            <a:off x="8051800" y="4089400"/>
            <a:ext cx="3302000" cy="177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77C8478-BD03-439B-AC81-7216E465469F}"/>
              </a:ext>
            </a:extLst>
          </p:cNvPr>
          <p:cNvSpPr/>
          <p:nvPr/>
        </p:nvSpPr>
        <p:spPr>
          <a:xfrm>
            <a:off x="8051800" y="4089400"/>
            <a:ext cx="50800" cy="1778000"/>
          </a:xfrm>
          <a:prstGeom prst="rect">
            <a:avLst/>
          </a:prstGeom>
          <a:solidFill>
            <a:srgbClr val="9E422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CF98738-DC88-48BA-A637-2AFC5BA1DE6E}"/>
              </a:ext>
            </a:extLst>
          </p:cNvPr>
          <p:cNvSpPr txBox="1"/>
          <p:nvPr/>
        </p:nvSpPr>
        <p:spPr>
          <a:xfrm>
            <a:off x="8280400" y="4267200"/>
            <a:ext cx="28702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>
                <a:solidFill>
                  <a:srgbClr val="22201D"/>
                </a:solidFill>
              </a:rPr>
              <a:t>HackerRank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5FA3463-AF8A-46EA-B648-52C384CE75E7}"/>
              </a:ext>
            </a:extLst>
          </p:cNvPr>
          <p:cNvSpPr txBox="1"/>
          <p:nvPr/>
        </p:nvSpPr>
        <p:spPr>
          <a:xfrm>
            <a:off x="8280400" y="4597400"/>
            <a:ext cx="28702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2F5D50"/>
                </a:solidFill>
              </a:rPr>
              <a:t>hackerrank.com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5771528-6988-4989-8173-7735D6E86566}"/>
              </a:ext>
            </a:extLst>
          </p:cNvPr>
          <p:cNvSpPr txBox="1"/>
          <p:nvPr/>
        </p:nvSpPr>
        <p:spPr>
          <a:xfrm>
            <a:off x="8280400" y="4902200"/>
            <a:ext cx="28702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>
                <a:solidFill>
                  <a:srgbClr val="4A463F"/>
                </a:solidFill>
              </a:rPr>
              <a:t>For the coding section: arrays, strings, recursion, sorting, graded by difficulty.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2B26ECF-A43D-44C7-818C-6E80FB1C0947}"/>
              </a:ext>
            </a:extLst>
          </p:cNvPr>
          <p:cNvSpPr txBox="1"/>
          <p:nvPr/>
        </p:nvSpPr>
        <p:spPr>
          <a:xfrm>
            <a:off x="838200" y="6121400"/>
            <a:ext cx="105156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6A655D"/>
                </a:solidFill>
              </a:rPr>
              <a:t>Free material clears most drives. Paid mock series pay off only for higher tracks such as TCS Digital and Prime, where 10–15 marks decide the band.</a:t>
            </a:r>
          </a:p>
        </p:txBody>
      </p:sp>
    </p:spTree>
    <p:extLst>
      <p:ext uri="{BB962C8B-B14F-4D97-AF65-F5344CB8AC3E}">
        <p14:creationId xmlns:p14="http://schemas.microsoft.com/office/powerpoint/2010/main" val="40496900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D4EA9-8C5B-1D7C-DB2D-02DD9900C7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/>
              <a:t>Two and a half hours a day, and no new topics in the last 48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59CC80-CC4A-4902-8417-5BB035AB89E0}"/>
              </a:ext>
            </a:extLst>
          </p:cNvPr>
          <p:cNvSpPr txBox="1"/>
          <p:nvPr/>
        </p:nvSpPr>
        <p:spPr>
          <a:xfrm>
            <a:off x="838200" y="1981200"/>
            <a:ext cx="635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700" b="1">
                <a:solidFill>
                  <a:srgbClr val="9E4220"/>
                </a:solidFill>
              </a:rPr>
              <a:t>The daily block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FBE8D67-ECAC-4849-ADB3-E5E369C147D5}"/>
              </a:ext>
            </a:extLst>
          </p:cNvPr>
          <p:cNvSpPr/>
          <p:nvPr/>
        </p:nvSpPr>
        <p:spPr>
          <a:xfrm>
            <a:off x="838200" y="2438400"/>
            <a:ext cx="965200" cy="381000"/>
          </a:xfrm>
          <a:prstGeom prst="rect">
            <a:avLst/>
          </a:prstGeom>
          <a:solidFill>
            <a:srgbClr val="EDE7D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22201D"/>
                </a:solidFill>
              </a:rPr>
              <a:t>30 min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FCD98B-51A6-4A6B-BF1A-C93B967F659D}"/>
              </a:ext>
            </a:extLst>
          </p:cNvPr>
          <p:cNvSpPr txBox="1"/>
          <p:nvPr/>
        </p:nvSpPr>
        <p:spPr>
          <a:xfrm>
            <a:off x="1955800" y="2413000"/>
            <a:ext cx="5232400" cy="711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>
                <a:solidFill>
                  <a:srgbClr val="32302C"/>
                </a:solidFill>
              </a:rPr>
              <a:t>Learn or revise one concept and add its formulas to a single sheet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E8BDAF8-383F-4B41-AFE6-9102165668A9}"/>
              </a:ext>
            </a:extLst>
          </p:cNvPr>
          <p:cNvSpPr/>
          <p:nvPr/>
        </p:nvSpPr>
        <p:spPr>
          <a:xfrm>
            <a:off x="838200" y="3352800"/>
            <a:ext cx="965200" cy="381000"/>
          </a:xfrm>
          <a:prstGeom prst="rect">
            <a:avLst/>
          </a:prstGeom>
          <a:solidFill>
            <a:srgbClr val="EDE7D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22201D"/>
                </a:solidFill>
              </a:rPr>
              <a:t>60 min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CDD467-B335-4A58-8B1D-4ABD2244CC33}"/>
              </a:ext>
            </a:extLst>
          </p:cNvPr>
          <p:cNvSpPr txBox="1"/>
          <p:nvPr/>
        </p:nvSpPr>
        <p:spPr>
          <a:xfrm>
            <a:off x="1955800" y="3327400"/>
            <a:ext cx="5232400" cy="711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>
                <a:solidFill>
                  <a:srgbClr val="32302C"/>
                </a:solidFill>
              </a:rPr>
              <a:t>Solve 25 timed questions on that one topic, long method before shortcut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9E6EE38-0417-45EA-B9B1-5B6A3D5B8D77}"/>
              </a:ext>
            </a:extLst>
          </p:cNvPr>
          <p:cNvSpPr/>
          <p:nvPr/>
        </p:nvSpPr>
        <p:spPr>
          <a:xfrm>
            <a:off x="838200" y="4267200"/>
            <a:ext cx="965200" cy="381000"/>
          </a:xfrm>
          <a:prstGeom prst="rect">
            <a:avLst/>
          </a:prstGeom>
          <a:solidFill>
            <a:srgbClr val="EDE7D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22201D"/>
                </a:solidFill>
              </a:rPr>
              <a:t>30 min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EFE46A-CBE5-40A9-AE5D-E6DEEAD9936A}"/>
              </a:ext>
            </a:extLst>
          </p:cNvPr>
          <p:cNvSpPr txBox="1"/>
          <p:nvPr/>
        </p:nvSpPr>
        <p:spPr>
          <a:xfrm>
            <a:off x="1955800" y="4241800"/>
            <a:ext cx="5232400" cy="711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>
                <a:solidFill>
                  <a:srgbClr val="32302C"/>
                </a:solidFill>
              </a:rPr>
              <a:t>Review every wrong answer and write the mistake into an error log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DEFBADF-70B9-4DEA-A7B8-1845D7B6F3B5}"/>
              </a:ext>
            </a:extLst>
          </p:cNvPr>
          <p:cNvSpPr/>
          <p:nvPr/>
        </p:nvSpPr>
        <p:spPr>
          <a:xfrm>
            <a:off x="838200" y="5181600"/>
            <a:ext cx="965200" cy="381000"/>
          </a:xfrm>
          <a:prstGeom prst="rect">
            <a:avLst/>
          </a:prstGeom>
          <a:solidFill>
            <a:srgbClr val="EDE7D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22201D"/>
                </a:solidFill>
              </a:rPr>
              <a:t>30 min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40C44BE-8596-4FD3-B912-832442802354}"/>
              </a:ext>
            </a:extLst>
          </p:cNvPr>
          <p:cNvSpPr txBox="1"/>
          <p:nvPr/>
        </p:nvSpPr>
        <p:spPr>
          <a:xfrm>
            <a:off x="1955800" y="5156200"/>
            <a:ext cx="5232400" cy="711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>
                <a:solidFill>
                  <a:srgbClr val="32302C"/>
                </a:solidFill>
              </a:rPr>
              <a:t>Mixed revision pulled from topics you covered in earlier days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E3B336-8A00-4DBF-83DA-F1B4A57F214C}"/>
              </a:ext>
            </a:extLst>
          </p:cNvPr>
          <p:cNvSpPr txBox="1"/>
          <p:nvPr/>
        </p:nvSpPr>
        <p:spPr>
          <a:xfrm>
            <a:off x="838200" y="6121400"/>
            <a:ext cx="6350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>
                <a:solidFill>
                  <a:srgbClr val="6A655D"/>
                </a:solidFill>
              </a:rPr>
              <a:t>Learn a shortcut only after you can solve the question the long way, and never leave a mock unreviewed.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AF9A825-709F-4C84-9714-52237BAF6852}"/>
              </a:ext>
            </a:extLst>
          </p:cNvPr>
          <p:cNvSpPr/>
          <p:nvPr/>
        </p:nvSpPr>
        <p:spPr>
          <a:xfrm>
            <a:off x="7543800" y="1981200"/>
            <a:ext cx="3810000" cy="4013200"/>
          </a:xfrm>
          <a:prstGeom prst="rect">
            <a:avLst/>
          </a:prstGeom>
          <a:solidFill>
            <a:srgbClr val="2F5D5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B5B34F0-2332-45DD-B9D7-A06D511A9743}"/>
              </a:ext>
            </a:extLst>
          </p:cNvPr>
          <p:cNvSpPr txBox="1"/>
          <p:nvPr/>
        </p:nvSpPr>
        <p:spPr>
          <a:xfrm>
            <a:off x="7848600" y="2260600"/>
            <a:ext cx="32004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000" b="1">
                <a:solidFill>
                  <a:srgbClr val="FBF8F3"/>
                </a:solidFill>
                <a:latin typeface="Georgia"/>
              </a:rPr>
              <a:t>The last 48 hours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346F6BC-DC96-4E75-AE4B-67D47E04AF2A}"/>
              </a:ext>
            </a:extLst>
          </p:cNvPr>
          <p:cNvSpPr txBox="1"/>
          <p:nvPr/>
        </p:nvSpPr>
        <p:spPr>
          <a:xfrm>
            <a:off x="7848600" y="2768600"/>
            <a:ext cx="3200400" cy="299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E8EFEB"/>
                </a:solidFill>
              </a:rPr>
              <a:t>Stop opening new topics.
Re-solve the error log end to end.
Sit one full mock at the real start time of your drive.
Re-read the company's own test pattern page.
Sleep — speed collapses when you are tired.</a:t>
            </a:r>
          </a:p>
        </p:txBody>
      </p:sp>
    </p:spTree>
    <p:extLst>
      <p:ext uri="{BB962C8B-B14F-4D97-AF65-F5344CB8AC3E}">
        <p14:creationId xmlns:p14="http://schemas.microsoft.com/office/powerpoint/2010/main" val="4096295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0E380-D201-07B7-1D80-C73D950B9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/>
              <a:t>Week 1, day by day: build the concepts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47305B0-AC6D-43C2-8C20-2F9828D3C4AD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108200"/>
          <a:ext cx="10515600" cy="375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1549504383"/>
                    </a:ext>
                  </a:extLst>
                </a:gridCol>
                <a:gridCol w="4419600">
                  <a:extLst>
                    <a:ext uri="{9D8B030D-6E8A-4147-A177-3AD203B41FA5}">
                      <a16:colId xmlns:a16="http://schemas.microsoft.com/office/drawing/2014/main" val="2431020694"/>
                    </a:ext>
                  </a:extLst>
                </a:gridCol>
                <a:gridCol w="4876800">
                  <a:extLst>
                    <a:ext uri="{9D8B030D-6E8A-4147-A177-3AD203B41FA5}">
                      <a16:colId xmlns:a16="http://schemas.microsoft.com/office/drawing/2014/main" val="249880039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22201D"/>
                          </a:solidFill>
                          <a:latin typeface="Segoe UI"/>
                          <a:cs typeface="Segoe UI"/>
                        </a:rPr>
                        <a:t>Day</a:t>
                      </a:r>
                    </a:p>
                  </a:txBody>
                  <a:tcPr anchor="ctr">
                    <a:lnL w="0"/>
                    <a:lnR w="0"/>
                    <a:lnT w="0"/>
                    <a:lnB w="15875">
                      <a:solidFill>
                        <a:srgbClr val="22201D"/>
                      </a:solidFill>
                      <a:prstDash val="solid"/>
                    </a:lnB>
                    <a:solidFill>
                      <a:srgbClr val="FBF8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22201D"/>
                          </a:solidFill>
                          <a:latin typeface="Segoe UI"/>
                          <a:cs typeface="Segoe UI"/>
                        </a:rPr>
                        <a:t>Learn it (30 min)</a:t>
                      </a:r>
                    </a:p>
                  </a:txBody>
                  <a:tcPr anchor="ctr">
                    <a:lnL w="0"/>
                    <a:lnR w="0"/>
                    <a:lnT w="0"/>
                    <a:lnB w="15875">
                      <a:solidFill>
                        <a:srgbClr val="22201D"/>
                      </a:solidFill>
                      <a:prstDash val="solid"/>
                    </a:lnB>
                    <a:solidFill>
                      <a:srgbClr val="FBF8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22201D"/>
                          </a:solidFill>
                          <a:latin typeface="Segoe UI"/>
                          <a:cs typeface="Segoe UI"/>
                        </a:rPr>
                        <a:t>Done when you have</a:t>
                      </a:r>
                    </a:p>
                  </a:txBody>
                  <a:tcPr anchor="ctr">
                    <a:lnL w="0"/>
                    <a:lnR w="0"/>
                    <a:lnT w="0"/>
                    <a:lnB w="15875">
                      <a:solidFill>
                        <a:srgbClr val="22201D"/>
                      </a:solidFill>
                      <a:prstDash val="solid"/>
                    </a:lnB>
                    <a:solidFill>
                      <a:srgbClr val="FB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4251629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C2562E"/>
                          </a:solidFill>
                          <a:latin typeface="Segoe UI"/>
                          <a:cs typeface="Segoe UI"/>
                        </a:rPr>
                        <a:t>Day 1</a:t>
                      </a:r>
                    </a:p>
                  </a:txBody>
                  <a:tcPr anchor="ctr">
                    <a:lnL w="0"/>
                    <a:lnR w="0"/>
                    <a:lnT w="15875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  <a:prstDash val="solid"/>
                    </a:lnB>
                    <a:solidFill>
                      <a:srgbClr val="FBF8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4A463F"/>
                          </a:solidFill>
                          <a:latin typeface="Segoe UI"/>
                          <a:cs typeface="Segoe UI"/>
                        </a:rPr>
                        <a:t>Number systems — LCM, HCF, divisibility rules</a:t>
                      </a:r>
                    </a:p>
                  </a:txBody>
                  <a:tcPr anchor="ctr">
                    <a:lnL w="0"/>
                    <a:lnR w="0"/>
                    <a:lnT w="15875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  <a:prstDash val="solid"/>
                    </a:lnB>
                    <a:solidFill>
                      <a:srgbClr val="FBF8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4A463F"/>
                          </a:solidFill>
                          <a:latin typeface="Segoe UI"/>
                          <a:cs typeface="Segoe UI"/>
                        </a:rPr>
                        <a:t>25 timed questions solved and a formula sheet started</a:t>
                      </a:r>
                    </a:p>
                  </a:txBody>
                  <a:tcPr anchor="ctr">
                    <a:lnL w="0"/>
                    <a:lnR w="0"/>
                    <a:lnT w="15875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  <a:prstDash val="solid"/>
                    </a:lnB>
                    <a:solidFill>
                      <a:srgbClr val="FB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2010502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C2562E"/>
                          </a:solidFill>
                          <a:latin typeface="Segoe UI"/>
                          <a:cs typeface="Segoe UI"/>
                        </a:rPr>
                        <a:t>Day 2</a:t>
                      </a:r>
                    </a:p>
                  </a:txBody>
                  <a:tcPr anchor="ctr">
                    <a:lnL w="0"/>
                    <a:lnR w="0"/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  <a:prstDash val="solid"/>
                    </a:lnB>
                    <a:solidFill>
                      <a:srgbClr val="FBF8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4A463F"/>
                          </a:solidFill>
                          <a:latin typeface="Segoe UI"/>
                          <a:cs typeface="Segoe UI"/>
                        </a:rPr>
                        <a:t>Percentages — increase, decrease, successive change</a:t>
                      </a:r>
                    </a:p>
                  </a:txBody>
                  <a:tcPr anchor="ctr">
                    <a:lnL w="0"/>
                    <a:lnR w="0"/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  <a:prstDash val="solid"/>
                    </a:lnB>
                    <a:solidFill>
                      <a:srgbClr val="FBF8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4A463F"/>
                          </a:solidFill>
                          <a:latin typeface="Segoe UI"/>
                          <a:cs typeface="Segoe UI"/>
                        </a:rPr>
                        <a:t>25 questions plus every wrong one written in the error log</a:t>
                      </a:r>
                    </a:p>
                  </a:txBody>
                  <a:tcPr anchor="ctr">
                    <a:lnL w="0"/>
                    <a:lnR w="0"/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  <a:prstDash val="solid"/>
                    </a:lnB>
                    <a:solidFill>
                      <a:srgbClr val="FB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5645121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C2562E"/>
                          </a:solidFill>
                          <a:latin typeface="Segoe UI"/>
                          <a:cs typeface="Segoe UI"/>
                        </a:rPr>
                        <a:t>Day 3</a:t>
                      </a:r>
                    </a:p>
                  </a:txBody>
                  <a:tcPr anchor="ctr">
                    <a:lnL w="0"/>
                    <a:lnR w="0"/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  <a:prstDash val="solid"/>
                    </a:lnB>
                    <a:solidFill>
                      <a:srgbClr val="FBF8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4A463F"/>
                          </a:solidFill>
                          <a:latin typeface="Segoe UI"/>
                          <a:cs typeface="Segoe UI"/>
                        </a:rPr>
                        <a:t>Ratio and proportion — sharing, mixing, scaling</a:t>
                      </a:r>
                    </a:p>
                  </a:txBody>
                  <a:tcPr anchor="ctr">
                    <a:lnL w="0"/>
                    <a:lnR w="0"/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  <a:prstDash val="solid"/>
                    </a:lnB>
                    <a:solidFill>
                      <a:srgbClr val="FBF8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4A463F"/>
                          </a:solidFill>
                          <a:latin typeface="Segoe UI"/>
                          <a:cs typeface="Segoe UI"/>
                        </a:rPr>
                        <a:t>25 questions and Day 1–2 sums revised for 30 min</a:t>
                      </a:r>
                    </a:p>
                  </a:txBody>
                  <a:tcPr anchor="ctr">
                    <a:lnL w="0"/>
                    <a:lnR w="0"/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  <a:prstDash val="solid"/>
                    </a:lnB>
                    <a:solidFill>
                      <a:srgbClr val="FB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4966270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C2562E"/>
                          </a:solidFill>
                          <a:latin typeface="Segoe UI"/>
                          <a:cs typeface="Segoe UI"/>
                        </a:rPr>
                        <a:t>Day 4</a:t>
                      </a:r>
                    </a:p>
                  </a:txBody>
                  <a:tcPr anchor="ctr">
                    <a:lnL w="0"/>
                    <a:lnR w="0"/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  <a:prstDash val="solid"/>
                    </a:lnB>
                    <a:solidFill>
                      <a:srgbClr val="FBF8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4A463F"/>
                          </a:solidFill>
                          <a:latin typeface="Segoe UI"/>
                          <a:cs typeface="Segoe UI"/>
                        </a:rPr>
                        <a:t>Averages — plain, weighted, changed group</a:t>
                      </a:r>
                    </a:p>
                  </a:txBody>
                  <a:tcPr anchor="ctr">
                    <a:lnL w="0"/>
                    <a:lnR w="0"/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  <a:prstDash val="solid"/>
                    </a:lnB>
                    <a:solidFill>
                      <a:srgbClr val="FBF8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4A463F"/>
                          </a:solidFill>
                          <a:latin typeface="Segoe UI"/>
                          <a:cs typeface="Segoe UI"/>
                        </a:rPr>
                        <a:t>25 questions, long method before any shortcut</a:t>
                      </a:r>
                    </a:p>
                  </a:txBody>
                  <a:tcPr anchor="ctr">
                    <a:lnL w="0"/>
                    <a:lnR w="0"/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  <a:prstDash val="solid"/>
                    </a:lnB>
                    <a:solidFill>
                      <a:srgbClr val="FB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212688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C2562E"/>
                          </a:solidFill>
                          <a:latin typeface="Segoe UI"/>
                          <a:cs typeface="Segoe UI"/>
                        </a:rPr>
                        <a:t>Day 5</a:t>
                      </a:r>
                    </a:p>
                  </a:txBody>
                  <a:tcPr anchor="ctr">
                    <a:lnL w="0"/>
                    <a:lnR w="0"/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  <a:prstDash val="solid"/>
                    </a:lnB>
                    <a:solidFill>
                      <a:srgbClr val="FBF8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4A463F"/>
                          </a:solidFill>
                          <a:latin typeface="Segoe UI"/>
                          <a:cs typeface="Segoe UI"/>
                        </a:rPr>
                        <a:t>Profit and loss — cost price, discount, marked price</a:t>
                      </a:r>
                    </a:p>
                  </a:txBody>
                  <a:tcPr anchor="ctr">
                    <a:lnL w="0"/>
                    <a:lnR w="0"/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  <a:prstDash val="solid"/>
                    </a:lnB>
                    <a:solidFill>
                      <a:srgbClr val="FBF8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4A463F"/>
                          </a:solidFill>
                          <a:latin typeface="Segoe UI"/>
                          <a:cs typeface="Segoe UI"/>
                        </a:rPr>
                        <a:t>25 questions and the five formula sheets in one place</a:t>
                      </a:r>
                    </a:p>
                  </a:txBody>
                  <a:tcPr anchor="ctr">
                    <a:lnL w="0"/>
                    <a:lnR w="0"/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  <a:prstDash val="solid"/>
                    </a:lnB>
                    <a:solidFill>
                      <a:srgbClr val="FB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8229628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C2562E"/>
                          </a:solidFill>
                          <a:latin typeface="Segoe UI"/>
                          <a:cs typeface="Segoe UI"/>
                        </a:rPr>
                        <a:t>Day 6</a:t>
                      </a:r>
                    </a:p>
                  </a:txBody>
                  <a:tcPr anchor="ctr">
                    <a:lnL w="0"/>
                    <a:lnR w="0"/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  <a:prstDash val="solid"/>
                    </a:lnB>
                    <a:solidFill>
                      <a:srgbClr val="FBF8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4A463F"/>
                          </a:solidFill>
                          <a:latin typeface="Segoe UI"/>
                          <a:cs typeface="Segoe UI"/>
                        </a:rPr>
                        <a:t>Number and letter series, coding–decoding</a:t>
                      </a:r>
                    </a:p>
                  </a:txBody>
                  <a:tcPr anchor="ctr">
                    <a:lnL w="0"/>
                    <a:lnR w="0"/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  <a:prstDash val="solid"/>
                    </a:lnB>
                    <a:solidFill>
                      <a:srgbClr val="FBF8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4A463F"/>
                          </a:solidFill>
                          <a:latin typeface="Segoe UI"/>
                          <a:cs typeface="Segoe UI"/>
                        </a:rPr>
                        <a:t>25 reasoning questions timed at 60 seconds each</a:t>
                      </a:r>
                    </a:p>
                  </a:txBody>
                  <a:tcPr anchor="ctr">
                    <a:lnL w="0"/>
                    <a:lnR w="0"/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  <a:prstDash val="solid"/>
                    </a:lnB>
                    <a:solidFill>
                      <a:srgbClr val="FB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5900425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C2562E"/>
                          </a:solidFill>
                          <a:latin typeface="Segoe UI"/>
                          <a:cs typeface="Segoe UI"/>
                        </a:rPr>
                        <a:t>Day 7</a:t>
                      </a:r>
                    </a:p>
                  </a:txBody>
                  <a:tcPr anchor="ctr">
                    <a:lnL w="0"/>
                    <a:lnR w="0"/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  <a:prstDash val="solid"/>
                    </a:lnB>
                    <a:solidFill>
                      <a:srgbClr val="FBF8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4A463F"/>
                          </a:solidFill>
                          <a:latin typeface="Segoe UI"/>
                          <a:cs typeface="Segoe UI"/>
                        </a:rPr>
                        <a:t>Grammar rules and sentence correction</a:t>
                      </a:r>
                    </a:p>
                  </a:txBody>
                  <a:tcPr anchor="ctr">
                    <a:lnL w="0"/>
                    <a:lnR w="0"/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  <a:prstDash val="solid"/>
                    </a:lnB>
                    <a:solidFill>
                      <a:srgbClr val="FBF8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4A463F"/>
                          </a:solidFill>
                          <a:latin typeface="Segoe UI"/>
                          <a:cs typeface="Segoe UI"/>
                        </a:rPr>
                        <a:t>A 30-question mini test across all of Week 1, reviewed</a:t>
                      </a:r>
                    </a:p>
                  </a:txBody>
                  <a:tcPr anchor="ctr">
                    <a:lnL w="0"/>
                    <a:lnR w="0"/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  <a:prstDash val="solid"/>
                    </a:lnB>
                    <a:solidFill>
                      <a:srgbClr val="FB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4133051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FCF95E7C-019C-40E8-B887-49AAD75E9A3A}"/>
              </a:ext>
            </a:extLst>
          </p:cNvPr>
          <p:cNvSpPr/>
          <p:nvPr/>
        </p:nvSpPr>
        <p:spPr>
          <a:xfrm>
            <a:off x="838200" y="2501900"/>
            <a:ext cx="10515600" cy="15875"/>
          </a:xfrm>
          <a:prstGeom prst="rect">
            <a:avLst/>
          </a:prstGeom>
          <a:solidFill>
            <a:srgbClr val="22201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4454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9BEAB-E09F-6755-3FFE-8E6D8AC8E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/>
              <a:t>Week 2, day by day: build the speed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8BF998A-2068-4EA7-903E-710B3F0E112C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108200"/>
          <a:ext cx="10515600" cy="375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874224702"/>
                    </a:ext>
                  </a:extLst>
                </a:gridCol>
                <a:gridCol w="4419600">
                  <a:extLst>
                    <a:ext uri="{9D8B030D-6E8A-4147-A177-3AD203B41FA5}">
                      <a16:colId xmlns:a16="http://schemas.microsoft.com/office/drawing/2014/main" val="126562147"/>
                    </a:ext>
                  </a:extLst>
                </a:gridCol>
                <a:gridCol w="4876800">
                  <a:extLst>
                    <a:ext uri="{9D8B030D-6E8A-4147-A177-3AD203B41FA5}">
                      <a16:colId xmlns:a16="http://schemas.microsoft.com/office/drawing/2014/main" val="599597055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22201D"/>
                          </a:solidFill>
                          <a:latin typeface="Segoe UI"/>
                          <a:cs typeface="Segoe UI"/>
                        </a:rPr>
                        <a:t>Day</a:t>
                      </a:r>
                    </a:p>
                  </a:txBody>
                  <a:tcPr anchor="ctr">
                    <a:lnL w="0"/>
                    <a:lnR w="0"/>
                    <a:lnT w="0"/>
                    <a:lnB w="15875">
                      <a:solidFill>
                        <a:srgbClr val="22201D"/>
                      </a:solidFill>
                      <a:prstDash val="solid"/>
                    </a:lnB>
                    <a:solidFill>
                      <a:srgbClr val="FBF8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22201D"/>
                          </a:solidFill>
                          <a:latin typeface="Segoe UI"/>
                          <a:cs typeface="Segoe UI"/>
                        </a:rPr>
                        <a:t>Learn it (30 min)</a:t>
                      </a:r>
                    </a:p>
                  </a:txBody>
                  <a:tcPr anchor="ctr">
                    <a:lnL w="0"/>
                    <a:lnR w="0"/>
                    <a:lnT w="0"/>
                    <a:lnB w="15875">
                      <a:solidFill>
                        <a:srgbClr val="22201D"/>
                      </a:solidFill>
                      <a:prstDash val="solid"/>
                    </a:lnB>
                    <a:solidFill>
                      <a:srgbClr val="FBF8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22201D"/>
                          </a:solidFill>
                          <a:latin typeface="Segoe UI"/>
                          <a:cs typeface="Segoe UI"/>
                        </a:rPr>
                        <a:t>Done when you have</a:t>
                      </a:r>
                    </a:p>
                  </a:txBody>
                  <a:tcPr anchor="ctr">
                    <a:lnL w="0"/>
                    <a:lnR w="0"/>
                    <a:lnT w="0"/>
                    <a:lnB w="15875">
                      <a:solidFill>
                        <a:srgbClr val="22201D"/>
                      </a:solidFill>
                      <a:prstDash val="solid"/>
                    </a:lnB>
                    <a:solidFill>
                      <a:srgbClr val="FB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8618589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C2562E"/>
                          </a:solidFill>
                          <a:latin typeface="Segoe UI"/>
                          <a:cs typeface="Segoe UI"/>
                        </a:rPr>
                        <a:t>Day 8</a:t>
                      </a:r>
                    </a:p>
                  </a:txBody>
                  <a:tcPr anchor="ctr">
                    <a:lnL w="0"/>
                    <a:lnR w="0"/>
                    <a:lnT w="15875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  <a:prstDash val="solid"/>
                    </a:lnB>
                    <a:solidFill>
                      <a:srgbClr val="FBF8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4A463F"/>
                          </a:solidFill>
                          <a:latin typeface="Segoe UI"/>
                          <a:cs typeface="Segoe UI"/>
                        </a:rPr>
                        <a:t>Time, speed and distance — trains and boats</a:t>
                      </a:r>
                    </a:p>
                  </a:txBody>
                  <a:tcPr anchor="ctr">
                    <a:lnL w="0"/>
                    <a:lnR w="0"/>
                    <a:lnT w="15875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  <a:prstDash val="solid"/>
                    </a:lnB>
                    <a:solidFill>
                      <a:srgbClr val="FBF8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4A463F"/>
                          </a:solidFill>
                          <a:latin typeface="Segoe UI"/>
                          <a:cs typeface="Segoe UI"/>
                        </a:rPr>
                        <a:t>25 questions in 30 minutes, not 60</a:t>
                      </a:r>
                    </a:p>
                  </a:txBody>
                  <a:tcPr anchor="ctr">
                    <a:lnL w="0"/>
                    <a:lnR w="0"/>
                    <a:lnT w="15875" cap="flat" cmpd="sng" algn="ctr">
                      <a:solidFill>
                        <a:srgbClr val="2220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  <a:prstDash val="solid"/>
                    </a:lnB>
                    <a:solidFill>
                      <a:srgbClr val="FB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1891211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C2562E"/>
                          </a:solidFill>
                          <a:latin typeface="Segoe UI"/>
                          <a:cs typeface="Segoe UI"/>
                        </a:rPr>
                        <a:t>Day 9</a:t>
                      </a:r>
                    </a:p>
                  </a:txBody>
                  <a:tcPr anchor="ctr">
                    <a:lnL w="0"/>
                    <a:lnR w="0"/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  <a:prstDash val="solid"/>
                    </a:lnB>
                    <a:solidFill>
                      <a:srgbClr val="FBF8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4A463F"/>
                          </a:solidFill>
                          <a:latin typeface="Segoe UI"/>
                          <a:cs typeface="Segoe UI"/>
                        </a:rPr>
                        <a:t>Time and work, pipes and cisterns</a:t>
                      </a:r>
                    </a:p>
                  </a:txBody>
                  <a:tcPr anchor="ctr">
                    <a:lnL w="0"/>
                    <a:lnR w="0"/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  <a:prstDash val="solid"/>
                    </a:lnB>
                    <a:solidFill>
                      <a:srgbClr val="FBF8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4A463F"/>
                          </a:solidFill>
                          <a:latin typeface="Segoe UI"/>
                          <a:cs typeface="Segoe UI"/>
                        </a:rPr>
                        <a:t>25 questions and Week 1 percentages re-solved</a:t>
                      </a:r>
                    </a:p>
                  </a:txBody>
                  <a:tcPr anchor="ctr">
                    <a:lnL w="0"/>
                    <a:lnR w="0"/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  <a:prstDash val="solid"/>
                    </a:lnB>
                    <a:solidFill>
                      <a:srgbClr val="FB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2426569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C2562E"/>
                          </a:solidFill>
                          <a:latin typeface="Segoe UI"/>
                          <a:cs typeface="Segoe UI"/>
                        </a:rPr>
                        <a:t>Day 10</a:t>
                      </a:r>
                    </a:p>
                  </a:txBody>
                  <a:tcPr anchor="ctr">
                    <a:lnL w="0"/>
                    <a:lnR w="0"/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  <a:prstDash val="solid"/>
                    </a:lnB>
                    <a:solidFill>
                      <a:srgbClr val="FBF8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4A463F"/>
                          </a:solidFill>
                          <a:latin typeface="Segoe UI"/>
                          <a:cs typeface="Segoe UI"/>
                        </a:rPr>
                        <a:t>Simple and compound interest</a:t>
                      </a:r>
                    </a:p>
                  </a:txBody>
                  <a:tcPr anchor="ctr">
                    <a:lnL w="0"/>
                    <a:lnR w="0"/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  <a:prstDash val="solid"/>
                    </a:lnB>
                    <a:solidFill>
                      <a:srgbClr val="FBF8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4A463F"/>
                          </a:solidFill>
                          <a:latin typeface="Segoe UI"/>
                          <a:cs typeface="Segoe UI"/>
                        </a:rPr>
                        <a:t>25 questions and the interest formulas on the sheet</a:t>
                      </a:r>
                    </a:p>
                  </a:txBody>
                  <a:tcPr anchor="ctr">
                    <a:lnL w="0"/>
                    <a:lnR w="0"/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  <a:prstDash val="solid"/>
                    </a:lnB>
                    <a:solidFill>
                      <a:srgbClr val="FB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2932431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C2562E"/>
                          </a:solidFill>
                          <a:latin typeface="Segoe UI"/>
                          <a:cs typeface="Segoe UI"/>
                        </a:rPr>
                        <a:t>Day 11</a:t>
                      </a:r>
                    </a:p>
                  </a:txBody>
                  <a:tcPr anchor="ctr">
                    <a:lnL w="0"/>
                    <a:lnR w="0"/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  <a:prstDash val="solid"/>
                    </a:lnB>
                    <a:solidFill>
                      <a:srgbClr val="FBF8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4A463F"/>
                          </a:solidFill>
                          <a:latin typeface="Segoe UI"/>
                          <a:cs typeface="Segoe UI"/>
                        </a:rPr>
                        <a:t>Mixtures and alligation</a:t>
                      </a:r>
                    </a:p>
                  </a:txBody>
                  <a:tcPr anchor="ctr">
                    <a:lnL w="0"/>
                    <a:lnR w="0"/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  <a:prstDash val="solid"/>
                    </a:lnB>
                    <a:solidFill>
                      <a:srgbClr val="FBF8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4A463F"/>
                          </a:solidFill>
                          <a:latin typeface="Segoe UI"/>
                          <a:cs typeface="Segoe UI"/>
                        </a:rPr>
                        <a:t>25 questions plus a 20-minute Week 1 mixed set</a:t>
                      </a:r>
                    </a:p>
                  </a:txBody>
                  <a:tcPr anchor="ctr">
                    <a:lnL w="0"/>
                    <a:lnR w="0"/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  <a:prstDash val="solid"/>
                    </a:lnB>
                    <a:solidFill>
                      <a:srgbClr val="FB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8291828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C2562E"/>
                          </a:solidFill>
                          <a:latin typeface="Segoe UI"/>
                          <a:cs typeface="Segoe UI"/>
                        </a:rPr>
                        <a:t>Day 12</a:t>
                      </a:r>
                    </a:p>
                  </a:txBody>
                  <a:tcPr anchor="ctr">
                    <a:lnL w="0"/>
                    <a:lnR w="0"/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  <a:prstDash val="solid"/>
                    </a:lnB>
                    <a:solidFill>
                      <a:srgbClr val="FBF8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4A463F"/>
                          </a:solidFill>
                          <a:latin typeface="Segoe UI"/>
                          <a:cs typeface="Segoe UI"/>
                        </a:rPr>
                        <a:t>Syllogisms, statement and conclusion</a:t>
                      </a:r>
                    </a:p>
                  </a:txBody>
                  <a:tcPr anchor="ctr">
                    <a:lnL w="0"/>
                    <a:lnR w="0"/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  <a:prstDash val="solid"/>
                    </a:lnB>
                    <a:solidFill>
                      <a:srgbClr val="FBF8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4A463F"/>
                          </a:solidFill>
                          <a:latin typeface="Segoe UI"/>
                          <a:cs typeface="Segoe UI"/>
                        </a:rPr>
                        <a:t>25 questions solved by drawing, not by guessing</a:t>
                      </a:r>
                    </a:p>
                  </a:txBody>
                  <a:tcPr anchor="ctr">
                    <a:lnL w="0"/>
                    <a:lnR w="0"/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  <a:prstDash val="solid"/>
                    </a:lnB>
                    <a:solidFill>
                      <a:srgbClr val="FB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1732882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C2562E"/>
                          </a:solidFill>
                          <a:latin typeface="Segoe UI"/>
                          <a:cs typeface="Segoe UI"/>
                        </a:rPr>
                        <a:t>Day 13</a:t>
                      </a:r>
                    </a:p>
                  </a:txBody>
                  <a:tcPr anchor="ctr">
                    <a:lnL w="0"/>
                    <a:lnR w="0"/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  <a:prstDash val="solid"/>
                    </a:lnB>
                    <a:solidFill>
                      <a:srgbClr val="FBF8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4A463F"/>
                          </a:solidFill>
                          <a:latin typeface="Segoe UI"/>
                          <a:cs typeface="Segoe UI"/>
                        </a:rPr>
                        <a:t>Seating arrangement, puzzles, clocks</a:t>
                      </a:r>
                    </a:p>
                  </a:txBody>
                  <a:tcPr anchor="ctr">
                    <a:lnL w="0"/>
                    <a:lnR w="0"/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  <a:prstDash val="solid"/>
                    </a:lnB>
                    <a:solidFill>
                      <a:srgbClr val="FBF8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4A463F"/>
                          </a:solidFill>
                          <a:latin typeface="Segoe UI"/>
                          <a:cs typeface="Segoe UI"/>
                        </a:rPr>
                        <a:t>Two full puzzle sets finished inside 12 minutes each</a:t>
                      </a:r>
                    </a:p>
                  </a:txBody>
                  <a:tcPr anchor="ctr">
                    <a:lnL w="0"/>
                    <a:lnR w="0"/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  <a:prstDash val="solid"/>
                    </a:lnB>
                    <a:solidFill>
                      <a:srgbClr val="FB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0656899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C2562E"/>
                          </a:solidFill>
                          <a:latin typeface="Segoe UI"/>
                          <a:cs typeface="Segoe UI"/>
                        </a:rPr>
                        <a:t>Day 14</a:t>
                      </a:r>
                    </a:p>
                  </a:txBody>
                  <a:tcPr anchor="ctr">
                    <a:lnL w="0"/>
                    <a:lnR w="0"/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  <a:prstDash val="solid"/>
                    </a:lnB>
                    <a:solidFill>
                      <a:srgbClr val="FBF8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4A463F"/>
                          </a:solidFill>
                          <a:latin typeface="Segoe UI"/>
                          <a:cs typeface="Segoe UI"/>
                        </a:rPr>
                        <a:t>Reading comprehension and para jumbles</a:t>
                      </a:r>
                    </a:p>
                  </a:txBody>
                  <a:tcPr anchor="ctr">
                    <a:lnL w="0"/>
                    <a:lnR w="0"/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  <a:prstDash val="solid"/>
                    </a:lnB>
                    <a:solidFill>
                      <a:srgbClr val="FBF8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4A463F"/>
                          </a:solidFill>
                          <a:latin typeface="Segoe UI"/>
                          <a:cs typeface="Segoe UI"/>
                        </a:rPr>
                        <a:t>One full mock sat end to end, then reviewed line by line</a:t>
                      </a:r>
                    </a:p>
                  </a:txBody>
                  <a:tcPr anchor="ctr">
                    <a:lnL w="0"/>
                    <a:lnR w="0"/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  <a:prstDash val="solid"/>
                    </a:lnB>
                    <a:solidFill>
                      <a:srgbClr val="FB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3162728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5A318603-496A-4DCB-AAE8-8B5811174658}"/>
              </a:ext>
            </a:extLst>
          </p:cNvPr>
          <p:cNvSpPr/>
          <p:nvPr/>
        </p:nvSpPr>
        <p:spPr>
          <a:xfrm>
            <a:off x="838200" y="2501900"/>
            <a:ext cx="10515600" cy="15875"/>
          </a:xfrm>
          <a:prstGeom prst="rect">
            <a:avLst/>
          </a:prstGeom>
          <a:solidFill>
            <a:srgbClr val="22201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8791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90081-56E9-CBC1-6B78-B96A148CA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/>
              <a:t>Week 3, day by day: sit the mocks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B719C46-3903-40E9-A0EE-ADF99A79CD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3455614"/>
              </p:ext>
            </p:extLst>
          </p:nvPr>
        </p:nvGraphicFramePr>
        <p:xfrm>
          <a:off x="838200" y="2108200"/>
          <a:ext cx="10515600" cy="375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845931149"/>
                    </a:ext>
                  </a:extLst>
                </a:gridCol>
                <a:gridCol w="4419600">
                  <a:extLst>
                    <a:ext uri="{9D8B030D-6E8A-4147-A177-3AD203B41FA5}">
                      <a16:colId xmlns:a16="http://schemas.microsoft.com/office/drawing/2014/main" val="226922367"/>
                    </a:ext>
                  </a:extLst>
                </a:gridCol>
                <a:gridCol w="4876800">
                  <a:extLst>
                    <a:ext uri="{9D8B030D-6E8A-4147-A177-3AD203B41FA5}">
                      <a16:colId xmlns:a16="http://schemas.microsoft.com/office/drawing/2014/main" val="235849136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22201D"/>
                          </a:solidFill>
                          <a:latin typeface="Segoe UI"/>
                          <a:cs typeface="Segoe UI"/>
                        </a:rPr>
                        <a:t>Day</a:t>
                      </a:r>
                    </a:p>
                  </a:txBody>
                  <a:tcPr anchor="ctr">
                    <a:lnL w="0"/>
                    <a:lnR w="0"/>
                    <a:lnT w="0"/>
                    <a:lnB w="15875">
                      <a:solidFill>
                        <a:srgbClr val="22201D"/>
                      </a:solidFill>
                      <a:prstDash val="solid"/>
                    </a:lnB>
                    <a:solidFill>
                      <a:srgbClr val="FBF8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22201D"/>
                          </a:solidFill>
                          <a:latin typeface="Segoe UI"/>
                          <a:cs typeface="Segoe UI"/>
                        </a:rPr>
                        <a:t>Do this (2.5 hrs)</a:t>
                      </a:r>
                    </a:p>
                  </a:txBody>
                  <a:tcPr anchor="ctr">
                    <a:lnL w="0"/>
                    <a:lnR w="0"/>
                    <a:lnT w="0"/>
                    <a:lnB w="15875">
                      <a:solidFill>
                        <a:srgbClr val="22201D"/>
                      </a:solidFill>
                      <a:prstDash val="solid"/>
                    </a:lnB>
                    <a:solidFill>
                      <a:srgbClr val="FBF8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22201D"/>
                          </a:solidFill>
                          <a:latin typeface="Segoe UI"/>
                          <a:cs typeface="Segoe UI"/>
                        </a:rPr>
                        <a:t>Done when you have</a:t>
                      </a:r>
                    </a:p>
                  </a:txBody>
                  <a:tcPr anchor="ctr">
                    <a:lnL w="0"/>
                    <a:lnR w="0"/>
                    <a:lnT w="0"/>
                    <a:lnB w="15875">
                      <a:solidFill>
                        <a:srgbClr val="22201D"/>
                      </a:solidFill>
                      <a:prstDash val="solid"/>
                    </a:lnB>
                    <a:solidFill>
                      <a:srgbClr val="FB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0613389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C2562E"/>
                          </a:solidFill>
                          <a:latin typeface="Segoe UI"/>
                          <a:cs typeface="Segoe UI"/>
                        </a:rPr>
                        <a:t>Day 15</a:t>
                      </a:r>
                    </a:p>
                  </a:txBody>
                  <a:tcPr anchor="ctr">
                    <a:lnL w="0"/>
                    <a:lnR w="0"/>
                    <a:lnT w="0"/>
                    <a:lnB w="9525">
                      <a:solidFill>
                        <a:srgbClr val="E0E0E0"/>
                      </a:solidFill>
                      <a:prstDash val="solid"/>
                    </a:lnB>
                    <a:solidFill>
                      <a:srgbClr val="FBF8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4A463F"/>
                          </a:solidFill>
                          <a:latin typeface="Segoe UI"/>
                          <a:cs typeface="Segoe UI"/>
                        </a:rPr>
                        <a:t>Permutation and combination</a:t>
                      </a:r>
                    </a:p>
                  </a:txBody>
                  <a:tcPr anchor="ctr">
                    <a:lnL w="0"/>
                    <a:lnR w="0"/>
                    <a:lnT w="0"/>
                    <a:lnB w="9525">
                      <a:solidFill>
                        <a:srgbClr val="E0E0E0"/>
                      </a:solidFill>
                      <a:prstDash val="solid"/>
                    </a:lnB>
                    <a:solidFill>
                      <a:srgbClr val="FBF8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4A463F"/>
                          </a:solidFill>
                          <a:latin typeface="Segoe UI"/>
                          <a:cs typeface="Segoe UI"/>
                        </a:rPr>
                        <a:t>25 questions and the counting rules on the sheet</a:t>
                      </a:r>
                    </a:p>
                  </a:txBody>
                  <a:tcPr anchor="ctr">
                    <a:lnL w="0"/>
                    <a:lnR w="0"/>
                    <a:lnT w="0"/>
                    <a:lnB w="9525">
                      <a:solidFill>
                        <a:srgbClr val="E0E0E0"/>
                      </a:solidFill>
                      <a:prstDash val="solid"/>
                    </a:lnB>
                    <a:solidFill>
                      <a:srgbClr val="FB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1347690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C2562E"/>
                          </a:solidFill>
                          <a:latin typeface="Segoe UI"/>
                          <a:cs typeface="Segoe UI"/>
                        </a:rPr>
                        <a:t>Day 16</a:t>
                      </a:r>
                    </a:p>
                  </a:txBody>
                  <a:tcPr anchor="ctr">
                    <a:lnL w="0"/>
                    <a:lnR w="0"/>
                    <a:lnT w="0"/>
                    <a:lnB w="9525">
                      <a:solidFill>
                        <a:srgbClr val="E0E0E0"/>
                      </a:solidFill>
                      <a:prstDash val="solid"/>
                    </a:lnB>
                    <a:solidFill>
                      <a:srgbClr val="FBF8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4A463F"/>
                          </a:solidFill>
                          <a:latin typeface="Segoe UI"/>
                          <a:cs typeface="Segoe UI"/>
                        </a:rPr>
                        <a:t>Probability — dice, cards, at least one</a:t>
                      </a:r>
                    </a:p>
                  </a:txBody>
                  <a:tcPr anchor="ctr">
                    <a:lnL w="0"/>
                    <a:lnR w="0"/>
                    <a:lnT w="0"/>
                    <a:lnB w="9525">
                      <a:solidFill>
                        <a:srgbClr val="E0E0E0"/>
                      </a:solidFill>
                      <a:prstDash val="solid"/>
                    </a:lnB>
                    <a:solidFill>
                      <a:srgbClr val="FBF8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4A463F"/>
                          </a:solidFill>
                          <a:latin typeface="Segoe UI"/>
                          <a:cs typeface="Segoe UI"/>
                        </a:rPr>
                        <a:t>25 questions and Day 15 sums re-solved</a:t>
                      </a:r>
                    </a:p>
                  </a:txBody>
                  <a:tcPr anchor="ctr">
                    <a:lnL w="0"/>
                    <a:lnR w="0"/>
                    <a:lnT w="0"/>
                    <a:lnB w="9525">
                      <a:solidFill>
                        <a:srgbClr val="E0E0E0"/>
                      </a:solidFill>
                      <a:prstDash val="solid"/>
                    </a:lnB>
                    <a:solidFill>
                      <a:srgbClr val="FB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9502339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C2562E"/>
                          </a:solidFill>
                          <a:latin typeface="Segoe UI"/>
                          <a:cs typeface="Segoe UI"/>
                        </a:rPr>
                        <a:t>Day 17</a:t>
                      </a:r>
                    </a:p>
                  </a:txBody>
                  <a:tcPr anchor="ctr">
                    <a:lnL w="0"/>
                    <a:lnR w="0"/>
                    <a:lnT w="0"/>
                    <a:lnB w="9525">
                      <a:solidFill>
                        <a:srgbClr val="E0E0E0"/>
                      </a:solidFill>
                      <a:prstDash val="solid"/>
                    </a:lnB>
                    <a:solidFill>
                      <a:srgbClr val="FBF8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4A463F"/>
                          </a:solidFill>
                          <a:latin typeface="Segoe UI"/>
                          <a:cs typeface="Segoe UI"/>
                        </a:rPr>
                        <a:t>Mensuration — area, volume, surface area</a:t>
                      </a:r>
                    </a:p>
                  </a:txBody>
                  <a:tcPr anchor="ctr">
                    <a:lnL w="0"/>
                    <a:lnR w="0"/>
                    <a:lnT w="0"/>
                    <a:lnB w="9525">
                      <a:solidFill>
                        <a:srgbClr val="E0E0E0"/>
                      </a:solidFill>
                      <a:prstDash val="solid"/>
                    </a:lnB>
                    <a:solidFill>
                      <a:srgbClr val="FBF8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4A463F"/>
                          </a:solidFill>
                          <a:latin typeface="Segoe UI"/>
                          <a:cs typeface="Segoe UI"/>
                        </a:rPr>
                        <a:t>25 questions and the shapes list on the sheet</a:t>
                      </a:r>
                    </a:p>
                  </a:txBody>
                  <a:tcPr anchor="ctr">
                    <a:lnL w="0"/>
                    <a:lnR w="0"/>
                    <a:lnT w="0"/>
                    <a:lnB w="9525">
                      <a:solidFill>
                        <a:srgbClr val="E0E0E0"/>
                      </a:solidFill>
                      <a:prstDash val="solid"/>
                    </a:lnB>
                    <a:solidFill>
                      <a:srgbClr val="FB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1202210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C2562E"/>
                          </a:solidFill>
                          <a:latin typeface="Segoe UI"/>
                          <a:cs typeface="Segoe UI"/>
                        </a:rPr>
                        <a:t>Day 18</a:t>
                      </a:r>
                    </a:p>
                  </a:txBody>
                  <a:tcPr anchor="ctr">
                    <a:lnL w="0"/>
                    <a:lnR w="0"/>
                    <a:lnT w="0"/>
                    <a:lnB w="9525">
                      <a:solidFill>
                        <a:srgbClr val="E0E0E0"/>
                      </a:solidFill>
                      <a:prstDash val="solid"/>
                    </a:lnB>
                    <a:solidFill>
                      <a:srgbClr val="FBF8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4A463F"/>
                          </a:solidFill>
                          <a:latin typeface="Segoe UI"/>
                          <a:cs typeface="Segoe UI"/>
                        </a:rPr>
                        <a:t>Data interpretation — tables, bar and pie sets</a:t>
                      </a:r>
                    </a:p>
                  </a:txBody>
                  <a:tcPr anchor="ctr">
                    <a:lnL w="0"/>
                    <a:lnR w="0"/>
                    <a:lnT w="0"/>
                    <a:lnB w="9525">
                      <a:solidFill>
                        <a:srgbClr val="E0E0E0"/>
                      </a:solidFill>
                      <a:prstDash val="solid"/>
                    </a:lnB>
                    <a:solidFill>
                      <a:srgbClr val="FBF8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4A463F"/>
                          </a:solidFill>
                          <a:latin typeface="Segoe UI"/>
                          <a:cs typeface="Segoe UI"/>
                        </a:rPr>
                        <a:t>Three DI sets finished in 20 minutes together</a:t>
                      </a:r>
                    </a:p>
                  </a:txBody>
                  <a:tcPr anchor="ctr">
                    <a:lnL w="0"/>
                    <a:lnR w="0"/>
                    <a:lnT w="0"/>
                    <a:lnB w="9525">
                      <a:solidFill>
                        <a:srgbClr val="E0E0E0"/>
                      </a:solidFill>
                      <a:prstDash val="solid"/>
                    </a:lnB>
                    <a:solidFill>
                      <a:srgbClr val="FB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6556485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C2562E"/>
                          </a:solidFill>
                          <a:latin typeface="Segoe UI"/>
                          <a:cs typeface="Segoe UI"/>
                        </a:rPr>
                        <a:t>Day 19</a:t>
                      </a:r>
                    </a:p>
                  </a:txBody>
                  <a:tcPr anchor="ctr">
                    <a:lnL w="0"/>
                    <a:lnR w="0"/>
                    <a:lnT w="0"/>
                    <a:lnB w="9525">
                      <a:solidFill>
                        <a:srgbClr val="E0E0E0"/>
                      </a:solidFill>
                      <a:prstDash val="solid"/>
                    </a:lnB>
                    <a:solidFill>
                      <a:srgbClr val="FBF8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4A463F"/>
                          </a:solidFill>
                          <a:latin typeface="Segoe UI"/>
                          <a:cs typeface="Segoe UI"/>
                        </a:rPr>
                        <a:t>Full mock at the real start time of your drive</a:t>
                      </a:r>
                    </a:p>
                  </a:txBody>
                  <a:tcPr anchor="ctr">
                    <a:lnL w="0"/>
                    <a:lnR w="0"/>
                    <a:lnT w="0"/>
                    <a:lnB w="9525">
                      <a:solidFill>
                        <a:srgbClr val="E0E0E0"/>
                      </a:solidFill>
                      <a:prstDash val="solid"/>
                    </a:lnB>
                    <a:solidFill>
                      <a:srgbClr val="FBF8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4A463F"/>
                          </a:solidFill>
                          <a:latin typeface="Segoe UI"/>
                          <a:cs typeface="Segoe UI"/>
                        </a:rPr>
                        <a:t>Every wrong answer traced to a reason, not to bad luck</a:t>
                      </a:r>
                    </a:p>
                  </a:txBody>
                  <a:tcPr anchor="ctr">
                    <a:lnL w="0"/>
                    <a:lnR w="0"/>
                    <a:lnT w="0"/>
                    <a:lnB w="9525">
                      <a:solidFill>
                        <a:srgbClr val="E0E0E0"/>
                      </a:solidFill>
                      <a:prstDash val="solid"/>
                    </a:lnB>
                    <a:solidFill>
                      <a:srgbClr val="FB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4988796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C2562E"/>
                          </a:solidFill>
                          <a:latin typeface="Segoe UI"/>
                          <a:cs typeface="Segoe UI"/>
                        </a:rPr>
                        <a:t>Day 20</a:t>
                      </a:r>
                    </a:p>
                  </a:txBody>
                  <a:tcPr anchor="ctr">
                    <a:lnL w="0"/>
                    <a:lnR w="0"/>
                    <a:lnT w="0"/>
                    <a:lnB w="9525">
                      <a:solidFill>
                        <a:srgbClr val="E0E0E0"/>
                      </a:solidFill>
                      <a:prstDash val="solid"/>
                    </a:lnB>
                    <a:solidFill>
                      <a:srgbClr val="FBF8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4A463F"/>
                          </a:solidFill>
                          <a:latin typeface="Segoe UI"/>
                          <a:cs typeface="Segoe UI"/>
                        </a:rPr>
                        <a:t>Second full mock, then the error log end to end</a:t>
                      </a:r>
                    </a:p>
                  </a:txBody>
                  <a:tcPr anchor="ctr">
                    <a:lnL w="0"/>
                    <a:lnR w="0"/>
                    <a:lnT w="0"/>
                    <a:lnB w="9525">
                      <a:solidFill>
                        <a:srgbClr val="E0E0E0"/>
                      </a:solidFill>
                      <a:prstDash val="solid"/>
                    </a:lnB>
                    <a:solidFill>
                      <a:srgbClr val="FBF8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4A463F"/>
                          </a:solidFill>
                          <a:latin typeface="Segoe UI"/>
                          <a:cs typeface="Segoe UI"/>
                        </a:rPr>
                        <a:t>A shorter error log than yesterday</a:t>
                      </a:r>
                    </a:p>
                  </a:txBody>
                  <a:tcPr anchor="ctr">
                    <a:lnL w="0"/>
                    <a:lnR w="0"/>
                    <a:lnT w="0"/>
                    <a:lnB w="9525">
                      <a:solidFill>
                        <a:srgbClr val="E0E0E0"/>
                      </a:solidFill>
                      <a:prstDash val="solid"/>
                    </a:lnB>
                    <a:solidFill>
                      <a:srgbClr val="FB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5378722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C2562E"/>
                          </a:solidFill>
                          <a:latin typeface="Segoe UI"/>
                          <a:cs typeface="Segoe UI"/>
                        </a:rPr>
                        <a:t>Day 21</a:t>
                      </a:r>
                    </a:p>
                  </a:txBody>
                  <a:tcPr anchor="ctr">
                    <a:lnL w="0"/>
                    <a:lnR w="0"/>
                    <a:lnT w="0"/>
                    <a:lnB w="9525">
                      <a:solidFill>
                        <a:srgbClr val="E0E0E0"/>
                      </a:solidFill>
                      <a:prstDash val="solid"/>
                    </a:lnB>
                    <a:solidFill>
                      <a:srgbClr val="FBF8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4A463F"/>
                          </a:solidFill>
                          <a:latin typeface="Segoe UI"/>
                          <a:cs typeface="Segoe UI"/>
                        </a:rPr>
                        <a:t>No new topics — formula sheet, error log, sleep</a:t>
                      </a:r>
                    </a:p>
                  </a:txBody>
                  <a:tcPr anchor="ctr">
                    <a:lnL w="0"/>
                    <a:lnR w="0"/>
                    <a:lnT w="0"/>
                    <a:lnB w="9525">
                      <a:solidFill>
                        <a:srgbClr val="E0E0E0"/>
                      </a:solidFill>
                      <a:prstDash val="solid"/>
                    </a:lnB>
                    <a:solidFill>
                      <a:srgbClr val="FBF8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4A463F"/>
                          </a:solidFill>
                          <a:latin typeface="Segoe UI"/>
                          <a:cs typeface="Segoe UI"/>
                        </a:rPr>
                        <a:t>The test pattern page re-read and an early night</a:t>
                      </a:r>
                    </a:p>
                  </a:txBody>
                  <a:tcPr anchor="ctr">
                    <a:lnL w="0"/>
                    <a:lnR w="0"/>
                    <a:lnT w="0"/>
                    <a:lnB w="9525">
                      <a:solidFill>
                        <a:srgbClr val="E0E0E0"/>
                      </a:solidFill>
                      <a:prstDash val="solid"/>
                    </a:lnB>
                    <a:solidFill>
                      <a:srgbClr val="FB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85601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498CC64-02CB-4944-B64D-1276B0B4AC5E}"/>
              </a:ext>
            </a:extLst>
          </p:cNvPr>
          <p:cNvSpPr txBox="1"/>
          <p:nvPr/>
        </p:nvSpPr>
        <p:spPr>
          <a:xfrm>
            <a:off x="838200" y="6070600"/>
            <a:ext cx="105156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6B6560"/>
                </a:solidFill>
                <a:latin typeface="Segoe UI"/>
                <a:cs typeface="Segoe UI"/>
              </a:rPr>
              <a:t>Exam morning: eat first, keep the formula sheet as the only revision, attempt the section you are fastest at, and never spend more than 90 seconds on one question.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D13B03E-5C84-4317-99A7-B3C6CECE4574}"/>
              </a:ext>
            </a:extLst>
          </p:cNvPr>
          <p:cNvSpPr/>
          <p:nvPr/>
        </p:nvSpPr>
        <p:spPr>
          <a:xfrm>
            <a:off x="838200" y="2501900"/>
            <a:ext cx="10515600" cy="15875"/>
          </a:xfrm>
          <a:prstGeom prst="rect">
            <a:avLst/>
          </a:prstGeom>
          <a:solidFill>
            <a:srgbClr val="22201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8642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43AFD-FDD3-2813-240C-3D1066BF1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/>
              <a:t>Sample questions: how the quant section actually asks it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3DDA72B-3049-400B-B632-043AE2537615}"/>
              </a:ext>
            </a:extLst>
          </p:cNvPr>
          <p:cNvSpPr/>
          <p:nvPr/>
        </p:nvSpPr>
        <p:spPr>
          <a:xfrm>
            <a:off x="838200" y="2108200"/>
            <a:ext cx="5156200" cy="1778000"/>
          </a:xfrm>
          <a:prstGeom prst="rect">
            <a:avLst/>
          </a:prstGeom>
          <a:solidFill>
            <a:srgbClr val="EDE7D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36FDA5B-EB5A-4719-9C42-880AA94F782A}"/>
              </a:ext>
            </a:extLst>
          </p:cNvPr>
          <p:cNvSpPr/>
          <p:nvPr/>
        </p:nvSpPr>
        <p:spPr>
          <a:xfrm>
            <a:off x="838200" y="2108200"/>
            <a:ext cx="50800" cy="1778000"/>
          </a:xfrm>
          <a:prstGeom prst="rect">
            <a:avLst/>
          </a:prstGeom>
          <a:solidFill>
            <a:srgbClr val="C256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DF12CD-6671-4551-9EB5-87A091C78091}"/>
              </a:ext>
            </a:extLst>
          </p:cNvPr>
          <p:cNvSpPr txBox="1"/>
          <p:nvPr/>
        </p:nvSpPr>
        <p:spPr>
          <a:xfrm>
            <a:off x="1092200" y="2260600"/>
            <a:ext cx="46482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8C3A1B"/>
                </a:solidFill>
                <a:latin typeface="Segoe UI"/>
                <a:cs typeface="Segoe UI"/>
              </a:rPr>
              <a:t>Percentages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A19852-B5FC-4642-99F0-FDCA9E97B662}"/>
              </a:ext>
            </a:extLst>
          </p:cNvPr>
          <p:cNvSpPr txBox="1"/>
          <p:nvPr/>
        </p:nvSpPr>
        <p:spPr>
          <a:xfrm>
            <a:off x="1092200" y="2540000"/>
            <a:ext cx="4648200" cy="584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>
                <a:solidFill>
                  <a:srgbClr val="22201D"/>
                </a:solidFill>
                <a:latin typeface="Segoe UI"/>
                <a:cs typeface="Segoe UI"/>
              </a:rPr>
              <a:t>A price rises 20%, then falls 20%. What is the net change?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9DAD02-B27A-422E-8534-EF9EF0449EA8}"/>
              </a:ext>
            </a:extLst>
          </p:cNvPr>
          <p:cNvSpPr txBox="1"/>
          <p:nvPr/>
        </p:nvSpPr>
        <p:spPr>
          <a:xfrm>
            <a:off x="1092200" y="3149600"/>
            <a:ext cx="46482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2F5D50"/>
                </a:solidFill>
                <a:latin typeface="Segoe UI"/>
                <a:cs typeface="Segoe UI"/>
              </a:rPr>
              <a:t>Answer: a 4% fall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160FFC-8A55-4D47-9A8A-5056331AB87A}"/>
              </a:ext>
            </a:extLst>
          </p:cNvPr>
          <p:cNvSpPr txBox="1"/>
          <p:nvPr/>
        </p:nvSpPr>
        <p:spPr>
          <a:xfrm>
            <a:off x="1092200" y="3454400"/>
            <a:ext cx="46482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>
                <a:solidFill>
                  <a:srgbClr val="4A463F"/>
                </a:solidFill>
                <a:latin typeface="Segoe UI"/>
                <a:cs typeface="Segoe UI"/>
              </a:rPr>
              <a:t>Net = a + b + ab/100 = 20 − 20 − 4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09377D5-3A92-49D8-96BE-3014DDD57336}"/>
              </a:ext>
            </a:extLst>
          </p:cNvPr>
          <p:cNvSpPr/>
          <p:nvPr/>
        </p:nvSpPr>
        <p:spPr>
          <a:xfrm>
            <a:off x="6197600" y="2108200"/>
            <a:ext cx="5156200" cy="1778000"/>
          </a:xfrm>
          <a:prstGeom prst="rect">
            <a:avLst/>
          </a:prstGeom>
          <a:solidFill>
            <a:srgbClr val="EDE7D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F78FD91-6BA9-4CFB-92F0-6C85C62C26FE}"/>
              </a:ext>
            </a:extLst>
          </p:cNvPr>
          <p:cNvSpPr/>
          <p:nvPr/>
        </p:nvSpPr>
        <p:spPr>
          <a:xfrm>
            <a:off x="6197600" y="2108200"/>
            <a:ext cx="50800" cy="1778000"/>
          </a:xfrm>
          <a:prstGeom prst="rect">
            <a:avLst/>
          </a:prstGeom>
          <a:solidFill>
            <a:srgbClr val="C256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3D2C229-9D53-4D98-AB34-A27AAC155F45}"/>
              </a:ext>
            </a:extLst>
          </p:cNvPr>
          <p:cNvSpPr txBox="1"/>
          <p:nvPr/>
        </p:nvSpPr>
        <p:spPr>
          <a:xfrm>
            <a:off x="6451600" y="2260600"/>
            <a:ext cx="46482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8C3A1B"/>
                </a:solidFill>
                <a:latin typeface="Segoe UI"/>
                <a:cs typeface="Segoe UI"/>
              </a:rPr>
              <a:t>Time and work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1C7A1B1-2704-4273-8B9A-352E9EB6CECD}"/>
              </a:ext>
            </a:extLst>
          </p:cNvPr>
          <p:cNvSpPr txBox="1"/>
          <p:nvPr/>
        </p:nvSpPr>
        <p:spPr>
          <a:xfrm>
            <a:off x="6451600" y="2540000"/>
            <a:ext cx="4648200" cy="584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>
                <a:solidFill>
                  <a:srgbClr val="22201D"/>
                </a:solidFill>
                <a:latin typeface="Segoe UI"/>
                <a:cs typeface="Segoe UI"/>
              </a:rPr>
              <a:t>A finishes a job in 12 days, B in 18. How long together?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0769746-828B-4525-A81B-81C002483772}"/>
              </a:ext>
            </a:extLst>
          </p:cNvPr>
          <p:cNvSpPr txBox="1"/>
          <p:nvPr/>
        </p:nvSpPr>
        <p:spPr>
          <a:xfrm>
            <a:off x="6451600" y="3149600"/>
            <a:ext cx="46482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2F5D50"/>
                </a:solidFill>
                <a:latin typeface="Segoe UI"/>
                <a:cs typeface="Segoe UI"/>
              </a:rPr>
              <a:t>Answer: 7.2 days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74408E9-4434-4155-99AF-E1FF9060A55B}"/>
              </a:ext>
            </a:extLst>
          </p:cNvPr>
          <p:cNvSpPr txBox="1"/>
          <p:nvPr/>
        </p:nvSpPr>
        <p:spPr>
          <a:xfrm>
            <a:off x="6451600" y="3454400"/>
            <a:ext cx="46482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>
                <a:solidFill>
                  <a:srgbClr val="4A463F"/>
                </a:solidFill>
                <a:latin typeface="Segoe UI"/>
                <a:cs typeface="Segoe UI"/>
              </a:rPr>
              <a:t>Total work = LCM 36 units; 3 + 2 = 5 a day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AC15D2B-7DFE-4620-B5D6-A470633517CF}"/>
              </a:ext>
            </a:extLst>
          </p:cNvPr>
          <p:cNvSpPr/>
          <p:nvPr/>
        </p:nvSpPr>
        <p:spPr>
          <a:xfrm>
            <a:off x="838200" y="4038600"/>
            <a:ext cx="5156200" cy="1778000"/>
          </a:xfrm>
          <a:prstGeom prst="rect">
            <a:avLst/>
          </a:prstGeom>
          <a:solidFill>
            <a:srgbClr val="EDE7D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7698A06-D170-49C6-A666-D01AB6C1C370}"/>
              </a:ext>
            </a:extLst>
          </p:cNvPr>
          <p:cNvSpPr/>
          <p:nvPr/>
        </p:nvSpPr>
        <p:spPr>
          <a:xfrm>
            <a:off x="838200" y="4038600"/>
            <a:ext cx="50800" cy="1778000"/>
          </a:xfrm>
          <a:prstGeom prst="rect">
            <a:avLst/>
          </a:prstGeom>
          <a:solidFill>
            <a:srgbClr val="C256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D5988B5-AE7E-4735-A00E-546A2A4C521E}"/>
              </a:ext>
            </a:extLst>
          </p:cNvPr>
          <p:cNvSpPr txBox="1"/>
          <p:nvPr/>
        </p:nvSpPr>
        <p:spPr>
          <a:xfrm>
            <a:off x="1092200" y="4191000"/>
            <a:ext cx="46482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8C3A1B"/>
                </a:solidFill>
                <a:latin typeface="Segoe UI"/>
                <a:cs typeface="Segoe UI"/>
              </a:rPr>
              <a:t>Speed and distance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22927B2-6EC2-42B3-97A3-07DF895ECC9A}"/>
              </a:ext>
            </a:extLst>
          </p:cNvPr>
          <p:cNvSpPr txBox="1"/>
          <p:nvPr/>
        </p:nvSpPr>
        <p:spPr>
          <a:xfrm>
            <a:off x="1092200" y="4470400"/>
            <a:ext cx="4648200" cy="584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>
                <a:solidFill>
                  <a:srgbClr val="22201D"/>
                </a:solidFill>
                <a:latin typeface="Segoe UI"/>
                <a:cs typeface="Segoe UI"/>
              </a:rPr>
              <a:t>A 180 m train at 54 km/h crosses a pole in how long?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6ECB258-451B-4B85-8285-AFC775E3883E}"/>
              </a:ext>
            </a:extLst>
          </p:cNvPr>
          <p:cNvSpPr txBox="1"/>
          <p:nvPr/>
        </p:nvSpPr>
        <p:spPr>
          <a:xfrm>
            <a:off x="1092200" y="5080000"/>
            <a:ext cx="46482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2F5D50"/>
                </a:solidFill>
                <a:latin typeface="Segoe UI"/>
                <a:cs typeface="Segoe UI"/>
              </a:rPr>
              <a:t>Answer: 12 seconds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0BD5E97-B308-497B-A4E0-93F93933005D}"/>
              </a:ext>
            </a:extLst>
          </p:cNvPr>
          <p:cNvSpPr txBox="1"/>
          <p:nvPr/>
        </p:nvSpPr>
        <p:spPr>
          <a:xfrm>
            <a:off x="1092200" y="5384800"/>
            <a:ext cx="46482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300">
                <a:solidFill>
                  <a:srgbClr val="4A463F"/>
                </a:solidFill>
                <a:latin typeface="Segoe UI"/>
                <a:cs typeface="Segoe UI"/>
              </a:rPr>
              <a:t>54 km/h = 15 m/s, so 180 ÷ 15</a:t>
            </a:r>
            <a:endParaRPr lang="en-US" sz="1300">
              <a:solidFill>
                <a:srgbClr val="4A463F"/>
              </a:solidFill>
              <a:latin typeface="Segoe UI"/>
              <a:cs typeface="Segoe UI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9A19CEC-0B11-494E-B163-17E7EDF0E14D}"/>
              </a:ext>
            </a:extLst>
          </p:cNvPr>
          <p:cNvSpPr/>
          <p:nvPr/>
        </p:nvSpPr>
        <p:spPr>
          <a:xfrm>
            <a:off x="6197600" y="4038600"/>
            <a:ext cx="5156200" cy="1778000"/>
          </a:xfrm>
          <a:prstGeom prst="rect">
            <a:avLst/>
          </a:prstGeom>
          <a:solidFill>
            <a:srgbClr val="EDE7D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C085B17-4044-411A-81EC-1361EAB10DAC}"/>
              </a:ext>
            </a:extLst>
          </p:cNvPr>
          <p:cNvSpPr/>
          <p:nvPr/>
        </p:nvSpPr>
        <p:spPr>
          <a:xfrm>
            <a:off x="6197600" y="4038600"/>
            <a:ext cx="50800" cy="1778000"/>
          </a:xfrm>
          <a:prstGeom prst="rect">
            <a:avLst/>
          </a:prstGeom>
          <a:solidFill>
            <a:srgbClr val="C256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8D1DE38-FD5A-4C81-9F09-3A24D95574DC}"/>
              </a:ext>
            </a:extLst>
          </p:cNvPr>
          <p:cNvSpPr txBox="1"/>
          <p:nvPr/>
        </p:nvSpPr>
        <p:spPr>
          <a:xfrm>
            <a:off x="6451600" y="4191000"/>
            <a:ext cx="46482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8C3A1B"/>
                </a:solidFill>
                <a:latin typeface="Segoe UI"/>
                <a:cs typeface="Segoe UI"/>
              </a:rPr>
              <a:t>Averages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EF6F364-AA20-417D-9C91-FCCA424F4FB5}"/>
              </a:ext>
            </a:extLst>
          </p:cNvPr>
          <p:cNvSpPr txBox="1"/>
          <p:nvPr/>
        </p:nvSpPr>
        <p:spPr>
          <a:xfrm>
            <a:off x="6451600" y="4470400"/>
            <a:ext cx="4648200" cy="584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>
                <a:solidFill>
                  <a:srgbClr val="22201D"/>
                </a:solidFill>
                <a:latin typeface="Segoe UI"/>
                <a:cs typeface="Segoe UI"/>
              </a:rPr>
              <a:t>Average of 10 numbers is 25. A 30 is replaced by 50. New average?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4C17799-4112-4620-99FC-DA897E0307CB}"/>
              </a:ext>
            </a:extLst>
          </p:cNvPr>
          <p:cNvSpPr txBox="1"/>
          <p:nvPr/>
        </p:nvSpPr>
        <p:spPr>
          <a:xfrm>
            <a:off x="6451600" y="5080000"/>
            <a:ext cx="46482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2F5D50"/>
                </a:solidFill>
                <a:latin typeface="Segoe UI"/>
                <a:cs typeface="Segoe UI"/>
              </a:rPr>
              <a:t>Answer: 27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76BBD39-B7BA-4222-86CC-DA7E70DB98D3}"/>
              </a:ext>
            </a:extLst>
          </p:cNvPr>
          <p:cNvSpPr txBox="1"/>
          <p:nvPr/>
        </p:nvSpPr>
        <p:spPr>
          <a:xfrm>
            <a:off x="6451600" y="5384800"/>
            <a:ext cx="46482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>
                <a:solidFill>
                  <a:srgbClr val="4A463F"/>
                </a:solidFill>
                <a:latin typeface="Segoe UI"/>
                <a:cs typeface="Segoe UI"/>
              </a:rPr>
              <a:t>Total rose 20, spread over 10 numbers = +2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6CC3E09-78D6-40FC-B523-D49DC9AA3F1F}"/>
              </a:ext>
            </a:extLst>
          </p:cNvPr>
          <p:cNvSpPr txBox="1"/>
          <p:nvPr/>
        </p:nvSpPr>
        <p:spPr>
          <a:xfrm>
            <a:off x="838200" y="6070600"/>
            <a:ext cx="105156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575249"/>
                </a:solidFill>
                <a:latin typeface="Segoe UI"/>
                <a:cs typeface="Segoe UI"/>
              </a:rPr>
              <a:t>Solve the long way first. A shortcut only saves time once you know why it works.</a:t>
            </a:r>
          </a:p>
        </p:txBody>
      </p:sp>
    </p:spTree>
    <p:extLst>
      <p:ext uri="{BB962C8B-B14F-4D97-AF65-F5344CB8AC3E}">
        <p14:creationId xmlns:p14="http://schemas.microsoft.com/office/powerpoint/2010/main" val="15377141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A0FEE-C838-BA0C-B475-6F7A008F0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/>
              <a:t>Sample questions: reasoning and verbal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C95F30B-437C-4459-97BD-944E72395D83}"/>
              </a:ext>
            </a:extLst>
          </p:cNvPr>
          <p:cNvSpPr/>
          <p:nvPr/>
        </p:nvSpPr>
        <p:spPr>
          <a:xfrm>
            <a:off x="838200" y="2108200"/>
            <a:ext cx="5156200" cy="1778000"/>
          </a:xfrm>
          <a:prstGeom prst="rect">
            <a:avLst/>
          </a:prstGeom>
          <a:solidFill>
            <a:srgbClr val="EDE7D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3D1F77-C63D-4F7E-BCE2-17D4DF22968A}"/>
              </a:ext>
            </a:extLst>
          </p:cNvPr>
          <p:cNvSpPr/>
          <p:nvPr/>
        </p:nvSpPr>
        <p:spPr>
          <a:xfrm>
            <a:off x="838200" y="2108200"/>
            <a:ext cx="50800" cy="1778000"/>
          </a:xfrm>
          <a:prstGeom prst="rect">
            <a:avLst/>
          </a:prstGeom>
          <a:solidFill>
            <a:srgbClr val="C256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2BE5FC-93C5-4238-8B68-96D5EE644934}"/>
              </a:ext>
            </a:extLst>
          </p:cNvPr>
          <p:cNvSpPr txBox="1"/>
          <p:nvPr/>
        </p:nvSpPr>
        <p:spPr>
          <a:xfrm>
            <a:off x="1092200" y="2260600"/>
            <a:ext cx="46482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8C3A1B"/>
                </a:solidFill>
                <a:latin typeface="Segoe UI"/>
                <a:cs typeface="Segoe UI"/>
              </a:rPr>
              <a:t>Number series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EBE9EE-FAA5-4F71-AC2A-9131FE49B394}"/>
              </a:ext>
            </a:extLst>
          </p:cNvPr>
          <p:cNvSpPr txBox="1"/>
          <p:nvPr/>
        </p:nvSpPr>
        <p:spPr>
          <a:xfrm>
            <a:off x="1092200" y="2540000"/>
            <a:ext cx="4648200" cy="584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>
                <a:solidFill>
                  <a:srgbClr val="22201D"/>
                </a:solidFill>
                <a:latin typeface="Segoe UI"/>
                <a:cs typeface="Segoe UI"/>
              </a:rPr>
              <a:t>3, 7, 16, 35, 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160FB2-7192-4C81-AD9B-FBAA2D394D24}"/>
              </a:ext>
            </a:extLst>
          </p:cNvPr>
          <p:cNvSpPr txBox="1"/>
          <p:nvPr/>
        </p:nvSpPr>
        <p:spPr>
          <a:xfrm>
            <a:off x="1092200" y="3149600"/>
            <a:ext cx="46482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2F5D50"/>
                </a:solidFill>
                <a:latin typeface="Segoe UI"/>
                <a:cs typeface="Segoe UI"/>
              </a:rPr>
              <a:t>Answer: 74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5F99AF-C817-447C-A6D1-6B4F01590C5D}"/>
              </a:ext>
            </a:extLst>
          </p:cNvPr>
          <p:cNvSpPr txBox="1"/>
          <p:nvPr/>
        </p:nvSpPr>
        <p:spPr>
          <a:xfrm>
            <a:off x="1092200" y="3454400"/>
            <a:ext cx="46482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>
                <a:solidFill>
                  <a:srgbClr val="4A463F"/>
                </a:solidFill>
                <a:latin typeface="Segoe UI"/>
                <a:cs typeface="Segoe UI"/>
              </a:rPr>
              <a:t>Each step is ×2 and then +1, +2, +3, +4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66CBAA1-E974-4223-B481-A6647BE8E190}"/>
              </a:ext>
            </a:extLst>
          </p:cNvPr>
          <p:cNvSpPr/>
          <p:nvPr/>
        </p:nvSpPr>
        <p:spPr>
          <a:xfrm>
            <a:off x="6197600" y="2108200"/>
            <a:ext cx="5156200" cy="1778000"/>
          </a:xfrm>
          <a:prstGeom prst="rect">
            <a:avLst/>
          </a:prstGeom>
          <a:solidFill>
            <a:srgbClr val="EDE7D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014BFA-05D2-42A5-8CB8-465368C70B7E}"/>
              </a:ext>
            </a:extLst>
          </p:cNvPr>
          <p:cNvSpPr/>
          <p:nvPr/>
        </p:nvSpPr>
        <p:spPr>
          <a:xfrm>
            <a:off x="6197600" y="2108200"/>
            <a:ext cx="50800" cy="1778000"/>
          </a:xfrm>
          <a:prstGeom prst="rect">
            <a:avLst/>
          </a:prstGeom>
          <a:solidFill>
            <a:srgbClr val="C256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28AA5F2-3B73-46EA-8AF9-A1A27AE8D3D2}"/>
              </a:ext>
            </a:extLst>
          </p:cNvPr>
          <p:cNvSpPr txBox="1"/>
          <p:nvPr/>
        </p:nvSpPr>
        <p:spPr>
          <a:xfrm>
            <a:off x="6451600" y="2260600"/>
            <a:ext cx="46482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8C3A1B"/>
                </a:solidFill>
                <a:latin typeface="Segoe UI"/>
                <a:cs typeface="Segoe UI"/>
              </a:rPr>
              <a:t>Coding–decoding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721E5D6-DA06-4243-A72C-64CD8747B130}"/>
              </a:ext>
            </a:extLst>
          </p:cNvPr>
          <p:cNvSpPr txBox="1"/>
          <p:nvPr/>
        </p:nvSpPr>
        <p:spPr>
          <a:xfrm>
            <a:off x="6451600" y="2540000"/>
            <a:ext cx="4648200" cy="584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>
                <a:solidFill>
                  <a:srgbClr val="22201D"/>
                </a:solidFill>
                <a:latin typeface="Segoe UI"/>
                <a:cs typeface="Segoe UI"/>
              </a:rPr>
              <a:t>If CAT is written as DBU, what is DOG?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DE75975-8D2F-401F-A0DF-179D0974D304}"/>
              </a:ext>
            </a:extLst>
          </p:cNvPr>
          <p:cNvSpPr txBox="1"/>
          <p:nvPr/>
        </p:nvSpPr>
        <p:spPr>
          <a:xfrm>
            <a:off x="6451600" y="3149600"/>
            <a:ext cx="46482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2F5D50"/>
                </a:solidFill>
                <a:latin typeface="Segoe UI"/>
                <a:cs typeface="Segoe UI"/>
              </a:rPr>
              <a:t>Answer: EPH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56039A4-1CBE-4E28-BDBA-28C214FA4ACA}"/>
              </a:ext>
            </a:extLst>
          </p:cNvPr>
          <p:cNvSpPr txBox="1"/>
          <p:nvPr/>
        </p:nvSpPr>
        <p:spPr>
          <a:xfrm>
            <a:off x="6451600" y="3454400"/>
            <a:ext cx="46482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>
                <a:solidFill>
                  <a:srgbClr val="4A463F"/>
                </a:solidFill>
                <a:latin typeface="Segoe UI"/>
                <a:cs typeface="Segoe UI"/>
              </a:rPr>
              <a:t>Every letter moves one place forward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D91C305-B753-4F86-8BA9-65FB811EA5A2}"/>
              </a:ext>
            </a:extLst>
          </p:cNvPr>
          <p:cNvSpPr/>
          <p:nvPr/>
        </p:nvSpPr>
        <p:spPr>
          <a:xfrm>
            <a:off x="838200" y="4038600"/>
            <a:ext cx="5156200" cy="1778000"/>
          </a:xfrm>
          <a:prstGeom prst="rect">
            <a:avLst/>
          </a:prstGeom>
          <a:solidFill>
            <a:srgbClr val="EDE7D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4197361-021B-4A2F-B2B9-4D515AD98B52}"/>
              </a:ext>
            </a:extLst>
          </p:cNvPr>
          <p:cNvSpPr/>
          <p:nvPr/>
        </p:nvSpPr>
        <p:spPr>
          <a:xfrm>
            <a:off x="838200" y="4038600"/>
            <a:ext cx="50800" cy="1778000"/>
          </a:xfrm>
          <a:prstGeom prst="rect">
            <a:avLst/>
          </a:prstGeom>
          <a:solidFill>
            <a:srgbClr val="C256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1470128-AEB7-452F-946A-5B1D6B4CA23A}"/>
              </a:ext>
            </a:extLst>
          </p:cNvPr>
          <p:cNvSpPr txBox="1"/>
          <p:nvPr/>
        </p:nvSpPr>
        <p:spPr>
          <a:xfrm>
            <a:off x="1092200" y="4191000"/>
            <a:ext cx="46482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8C3A1B"/>
                </a:solidFill>
                <a:latin typeface="Segoe UI"/>
                <a:cs typeface="Segoe UI"/>
              </a:rPr>
              <a:t>Syllogism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511FCC0-FD02-4100-B98D-B6362A1DFA02}"/>
              </a:ext>
            </a:extLst>
          </p:cNvPr>
          <p:cNvSpPr txBox="1"/>
          <p:nvPr/>
        </p:nvSpPr>
        <p:spPr>
          <a:xfrm>
            <a:off x="1092200" y="4470400"/>
            <a:ext cx="4648200" cy="584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>
                <a:solidFill>
                  <a:srgbClr val="22201D"/>
                </a:solidFill>
                <a:latin typeface="Segoe UI"/>
                <a:cs typeface="Segoe UI"/>
              </a:rPr>
              <a:t>All pens are books. Some books are red. Does 'some pens are red' follow?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851F113-6E58-4335-ACC1-376A3817BA58}"/>
              </a:ext>
            </a:extLst>
          </p:cNvPr>
          <p:cNvSpPr txBox="1"/>
          <p:nvPr/>
        </p:nvSpPr>
        <p:spPr>
          <a:xfrm>
            <a:off x="1092200" y="5080000"/>
            <a:ext cx="46482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2F5D50"/>
                </a:solidFill>
                <a:latin typeface="Segoe UI"/>
                <a:cs typeface="Segoe UI"/>
              </a:rPr>
              <a:t>Answer: No, it does not follow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0D7551-52FB-457E-AD8B-A7759B99C088}"/>
              </a:ext>
            </a:extLst>
          </p:cNvPr>
          <p:cNvSpPr txBox="1"/>
          <p:nvPr/>
        </p:nvSpPr>
        <p:spPr>
          <a:xfrm>
            <a:off x="1092200" y="5384800"/>
            <a:ext cx="46482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>
                <a:solidFill>
                  <a:srgbClr val="4A463F"/>
                </a:solidFill>
                <a:latin typeface="Segoe UI"/>
                <a:cs typeface="Segoe UI"/>
              </a:rPr>
              <a:t>A 'some' statement never travels back to the first group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76EA9D7-FCCD-4486-82FB-DE2496A346B7}"/>
              </a:ext>
            </a:extLst>
          </p:cNvPr>
          <p:cNvSpPr/>
          <p:nvPr/>
        </p:nvSpPr>
        <p:spPr>
          <a:xfrm>
            <a:off x="6197600" y="4038600"/>
            <a:ext cx="5156200" cy="1778000"/>
          </a:xfrm>
          <a:prstGeom prst="rect">
            <a:avLst/>
          </a:prstGeom>
          <a:solidFill>
            <a:srgbClr val="EDE7D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5478DC9-958E-4784-845C-664C9EE5F28F}"/>
              </a:ext>
            </a:extLst>
          </p:cNvPr>
          <p:cNvSpPr/>
          <p:nvPr/>
        </p:nvSpPr>
        <p:spPr>
          <a:xfrm>
            <a:off x="6197600" y="4038600"/>
            <a:ext cx="50800" cy="1778000"/>
          </a:xfrm>
          <a:prstGeom prst="rect">
            <a:avLst/>
          </a:prstGeom>
          <a:solidFill>
            <a:srgbClr val="C256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C711812-8662-4136-BA93-328F06F7EC15}"/>
              </a:ext>
            </a:extLst>
          </p:cNvPr>
          <p:cNvSpPr txBox="1"/>
          <p:nvPr/>
        </p:nvSpPr>
        <p:spPr>
          <a:xfrm>
            <a:off x="6451600" y="4191000"/>
            <a:ext cx="46482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8C3A1B"/>
                </a:solidFill>
                <a:latin typeface="Segoe UI"/>
                <a:cs typeface="Segoe UI"/>
              </a:rPr>
              <a:t>Sentence correction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E908923-AABE-43CA-86F8-5B921E5E307B}"/>
              </a:ext>
            </a:extLst>
          </p:cNvPr>
          <p:cNvSpPr txBox="1"/>
          <p:nvPr/>
        </p:nvSpPr>
        <p:spPr>
          <a:xfrm>
            <a:off x="6451600" y="4470400"/>
            <a:ext cx="4648200" cy="584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>
                <a:solidFill>
                  <a:srgbClr val="22201D"/>
                </a:solidFill>
                <a:latin typeface="Segoe UI"/>
                <a:cs typeface="Segoe UI"/>
              </a:rPr>
              <a:t>'He is one of the best player in the team.' Fix it.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57A9B7C-12FD-4393-83BF-6E37D2BAD011}"/>
              </a:ext>
            </a:extLst>
          </p:cNvPr>
          <p:cNvSpPr txBox="1"/>
          <p:nvPr/>
        </p:nvSpPr>
        <p:spPr>
          <a:xfrm>
            <a:off x="6451600" y="5080000"/>
            <a:ext cx="46482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2F5D50"/>
                </a:solidFill>
                <a:latin typeface="Segoe UI"/>
                <a:cs typeface="Segoe UI"/>
              </a:rPr>
              <a:t>Answer: one of the best players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1E3B627-0ABF-4DF6-8F23-F6A995975CE0}"/>
              </a:ext>
            </a:extLst>
          </p:cNvPr>
          <p:cNvSpPr txBox="1"/>
          <p:nvPr/>
        </p:nvSpPr>
        <p:spPr>
          <a:xfrm>
            <a:off x="6451600" y="5384800"/>
            <a:ext cx="46482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>
                <a:solidFill>
                  <a:srgbClr val="4A463F"/>
                </a:solidFill>
                <a:latin typeface="Segoe UI"/>
                <a:cs typeface="Segoe UI"/>
              </a:rPr>
              <a:t>'One of the' is always followed by a plural noun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58A1D82-9D28-4C80-833B-2BC27497432F}"/>
              </a:ext>
            </a:extLst>
          </p:cNvPr>
          <p:cNvSpPr txBox="1"/>
          <p:nvPr/>
        </p:nvSpPr>
        <p:spPr>
          <a:xfrm>
            <a:off x="838200" y="6070600"/>
            <a:ext cx="105156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575249"/>
                </a:solidFill>
                <a:latin typeface="Segoe UI"/>
                <a:cs typeface="Segoe UI"/>
              </a:rPr>
              <a:t>In reasoning, draw the diagram before you read the options. In verbal, read the full sentence aloud in your head.</a:t>
            </a:r>
          </a:p>
        </p:txBody>
      </p:sp>
    </p:spTree>
    <p:extLst>
      <p:ext uri="{BB962C8B-B14F-4D97-AF65-F5344CB8AC3E}">
        <p14:creationId xmlns:p14="http://schemas.microsoft.com/office/powerpoint/2010/main" val="9180166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42650-1C38-F2B2-F3A0-49F12B4AF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/>
              <a:t>Coding round: four HackerRank problems that keep coming back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12B54A5-B7E4-4E48-9CE3-97D90D373CC2}"/>
              </a:ext>
            </a:extLst>
          </p:cNvPr>
          <p:cNvSpPr/>
          <p:nvPr/>
        </p:nvSpPr>
        <p:spPr>
          <a:xfrm>
            <a:off x="838200" y="2108200"/>
            <a:ext cx="5156200" cy="1778000"/>
          </a:xfrm>
          <a:prstGeom prst="rect">
            <a:avLst/>
          </a:prstGeom>
          <a:solidFill>
            <a:srgbClr val="EDE7D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2A916BB-E001-41EC-8BE1-ACF8204D93CD}"/>
              </a:ext>
            </a:extLst>
          </p:cNvPr>
          <p:cNvSpPr/>
          <p:nvPr/>
        </p:nvSpPr>
        <p:spPr>
          <a:xfrm>
            <a:off x="838200" y="2108200"/>
            <a:ext cx="50800" cy="1778000"/>
          </a:xfrm>
          <a:prstGeom prst="rect">
            <a:avLst/>
          </a:prstGeom>
          <a:solidFill>
            <a:srgbClr val="C256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176D06-472D-418D-88A7-3ACB960270B4}"/>
              </a:ext>
            </a:extLst>
          </p:cNvPr>
          <p:cNvSpPr txBox="1"/>
          <p:nvPr/>
        </p:nvSpPr>
        <p:spPr>
          <a:xfrm>
            <a:off x="1092200" y="2260600"/>
            <a:ext cx="46482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8C3A1B"/>
                </a:solidFill>
                <a:latin typeface="Segoe UI"/>
                <a:cs typeface="Segoe UI"/>
              </a:rPr>
              <a:t>Arrays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6A9008-5A13-4B23-BEFE-9C4D83639BCE}"/>
              </a:ext>
            </a:extLst>
          </p:cNvPr>
          <p:cNvSpPr txBox="1"/>
          <p:nvPr/>
        </p:nvSpPr>
        <p:spPr>
          <a:xfrm>
            <a:off x="1092200" y="2540000"/>
            <a:ext cx="4648200" cy="584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>
                <a:solidFill>
                  <a:srgbClr val="22201D"/>
                </a:solidFill>
                <a:latin typeface="Segoe UI"/>
                <a:cs typeface="Segoe UI"/>
              </a:rPr>
              <a:t>Find the second largest number in an array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4EA624-9D21-4139-8AD8-F4BBD3819F99}"/>
              </a:ext>
            </a:extLst>
          </p:cNvPr>
          <p:cNvSpPr txBox="1"/>
          <p:nvPr/>
        </p:nvSpPr>
        <p:spPr>
          <a:xfrm>
            <a:off x="1092200" y="3149600"/>
            <a:ext cx="46482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2F5D50"/>
                </a:solidFill>
                <a:latin typeface="Segoe UI"/>
                <a:cs typeface="Segoe UI"/>
              </a:rPr>
              <a:t>One pass, keep max and second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39A673-C63B-4E76-995C-E11D00AEFCE4}"/>
              </a:ext>
            </a:extLst>
          </p:cNvPr>
          <p:cNvSpPr txBox="1"/>
          <p:nvPr/>
        </p:nvSpPr>
        <p:spPr>
          <a:xfrm>
            <a:off x="1092200" y="3454400"/>
            <a:ext cx="46482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4A463F"/>
                </a:solidFill>
                <a:latin typeface="Consolas"/>
              </a:rPr>
              <a:t>Java: two ints, skip duplicates · O(n)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CF51BB5-D461-4787-915E-FBC4EE345F4D}"/>
              </a:ext>
            </a:extLst>
          </p:cNvPr>
          <p:cNvSpPr/>
          <p:nvPr/>
        </p:nvSpPr>
        <p:spPr>
          <a:xfrm>
            <a:off x="6197600" y="2108200"/>
            <a:ext cx="5156200" cy="1778000"/>
          </a:xfrm>
          <a:prstGeom prst="rect">
            <a:avLst/>
          </a:prstGeom>
          <a:solidFill>
            <a:srgbClr val="EDE7D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8523D8D-0EC9-4E68-9F75-E0658115C9F8}"/>
              </a:ext>
            </a:extLst>
          </p:cNvPr>
          <p:cNvSpPr/>
          <p:nvPr/>
        </p:nvSpPr>
        <p:spPr>
          <a:xfrm>
            <a:off x="6197600" y="2108200"/>
            <a:ext cx="50800" cy="1778000"/>
          </a:xfrm>
          <a:prstGeom prst="rect">
            <a:avLst/>
          </a:prstGeom>
          <a:solidFill>
            <a:srgbClr val="C256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3E3D50-5977-4B11-925D-F2012C2FAA68}"/>
              </a:ext>
            </a:extLst>
          </p:cNvPr>
          <p:cNvSpPr txBox="1"/>
          <p:nvPr/>
        </p:nvSpPr>
        <p:spPr>
          <a:xfrm>
            <a:off x="6451600" y="2260600"/>
            <a:ext cx="46482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8C3A1B"/>
                </a:solidFill>
                <a:latin typeface="Segoe UI"/>
                <a:cs typeface="Segoe UI"/>
              </a:rPr>
              <a:t>Strings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B5A5AF7-6671-40BA-9890-FFA6E17ABC61}"/>
              </a:ext>
            </a:extLst>
          </p:cNvPr>
          <p:cNvSpPr txBox="1"/>
          <p:nvPr/>
        </p:nvSpPr>
        <p:spPr>
          <a:xfrm>
            <a:off x="6451600" y="2540000"/>
            <a:ext cx="4648200" cy="584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>
                <a:solidFill>
                  <a:srgbClr val="22201D"/>
                </a:solidFill>
                <a:latin typeface="Segoe UI"/>
                <a:cs typeface="Segoe UI"/>
              </a:rPr>
              <a:t>Check if a string is a palindrome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9A06D53-0853-4989-B8A4-CC4C9C0A3D32}"/>
              </a:ext>
            </a:extLst>
          </p:cNvPr>
          <p:cNvSpPr txBox="1"/>
          <p:nvPr/>
        </p:nvSpPr>
        <p:spPr>
          <a:xfrm>
            <a:off x="6451600" y="3149600"/>
            <a:ext cx="46482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2F5D50"/>
                </a:solidFill>
                <a:latin typeface="Segoe UI"/>
                <a:cs typeface="Segoe UI"/>
              </a:rPr>
              <a:t>Two pointers moving inward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A9B7AA8-CC75-45FF-9894-770A79DE852E}"/>
              </a:ext>
            </a:extLst>
          </p:cNvPr>
          <p:cNvSpPr txBox="1"/>
          <p:nvPr/>
        </p:nvSpPr>
        <p:spPr>
          <a:xfrm>
            <a:off x="6451600" y="3454400"/>
            <a:ext cx="46482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4A463F"/>
                </a:solidFill>
                <a:latin typeface="Consolas"/>
              </a:rPr>
              <a:t>Java: replaceAll, then two pointers · O(n)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05E0867-F457-47D0-B657-5AA8325F9044}"/>
              </a:ext>
            </a:extLst>
          </p:cNvPr>
          <p:cNvSpPr/>
          <p:nvPr/>
        </p:nvSpPr>
        <p:spPr>
          <a:xfrm>
            <a:off x="838200" y="4114800"/>
            <a:ext cx="5156200" cy="1778000"/>
          </a:xfrm>
          <a:prstGeom prst="rect">
            <a:avLst/>
          </a:prstGeom>
          <a:solidFill>
            <a:srgbClr val="EDE7D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82DC72C-BBFB-44E4-88BC-22133D09C790}"/>
              </a:ext>
            </a:extLst>
          </p:cNvPr>
          <p:cNvSpPr/>
          <p:nvPr/>
        </p:nvSpPr>
        <p:spPr>
          <a:xfrm>
            <a:off x="838200" y="4114800"/>
            <a:ext cx="50800" cy="1778000"/>
          </a:xfrm>
          <a:prstGeom prst="rect">
            <a:avLst/>
          </a:prstGeom>
          <a:solidFill>
            <a:srgbClr val="C256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5ECB27-2684-4B6F-BFB0-340E1D8E69D0}"/>
              </a:ext>
            </a:extLst>
          </p:cNvPr>
          <p:cNvSpPr txBox="1"/>
          <p:nvPr/>
        </p:nvSpPr>
        <p:spPr>
          <a:xfrm>
            <a:off x="1092200" y="4267200"/>
            <a:ext cx="46482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8C3A1B"/>
                </a:solidFill>
                <a:latin typeface="Segoe UI"/>
                <a:cs typeface="Segoe UI"/>
              </a:rPr>
              <a:t>Hashing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8CFD82E-3DCD-4E42-B8D9-7685E522F15E}"/>
              </a:ext>
            </a:extLst>
          </p:cNvPr>
          <p:cNvSpPr txBox="1"/>
          <p:nvPr/>
        </p:nvSpPr>
        <p:spPr>
          <a:xfrm>
            <a:off x="1092200" y="4546600"/>
            <a:ext cx="4648200" cy="584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>
                <a:solidFill>
                  <a:srgbClr val="22201D"/>
                </a:solidFill>
                <a:latin typeface="Segoe UI"/>
                <a:cs typeface="Segoe UI"/>
              </a:rPr>
              <a:t>Print the first character that does not repeat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9350C48-7235-4C64-9E34-954C389A54CC}"/>
              </a:ext>
            </a:extLst>
          </p:cNvPr>
          <p:cNvSpPr txBox="1"/>
          <p:nvPr/>
        </p:nvSpPr>
        <p:spPr>
          <a:xfrm>
            <a:off x="1092200" y="5156200"/>
            <a:ext cx="46482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2F5D50"/>
                </a:solidFill>
                <a:latin typeface="Segoe UI"/>
                <a:cs typeface="Segoe UI"/>
              </a:rPr>
              <a:t>Count once, then scan once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2361CAD-7AE5-450A-8DA1-4C6D09E0514B}"/>
              </a:ext>
            </a:extLst>
          </p:cNvPr>
          <p:cNvSpPr txBox="1"/>
          <p:nvPr/>
        </p:nvSpPr>
        <p:spPr>
          <a:xfrm>
            <a:off x="1092200" y="5461000"/>
            <a:ext cx="46482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200">
                <a:solidFill>
                  <a:srgbClr val="4A463F"/>
                </a:solidFill>
                <a:latin typeface="Consolas"/>
              </a:rPr>
              <a:t>Java: LinkedHashMap keeps order · O(n)</a:t>
            </a:r>
            <a:endParaRPr lang="en-US" sz="1200">
              <a:solidFill>
                <a:srgbClr val="4A463F"/>
              </a:solidFill>
              <a:latin typeface="Consola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EA6959C-E2A1-410A-8A03-1C6865ADA2E4}"/>
              </a:ext>
            </a:extLst>
          </p:cNvPr>
          <p:cNvSpPr/>
          <p:nvPr/>
        </p:nvSpPr>
        <p:spPr>
          <a:xfrm>
            <a:off x="6197600" y="4114800"/>
            <a:ext cx="5156200" cy="1778000"/>
          </a:xfrm>
          <a:prstGeom prst="rect">
            <a:avLst/>
          </a:prstGeom>
          <a:solidFill>
            <a:srgbClr val="EDE7D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F829BBC-A89E-40A6-BA6D-D933CB66EF04}"/>
              </a:ext>
            </a:extLst>
          </p:cNvPr>
          <p:cNvSpPr/>
          <p:nvPr/>
        </p:nvSpPr>
        <p:spPr>
          <a:xfrm>
            <a:off x="6197600" y="4114800"/>
            <a:ext cx="50800" cy="1778000"/>
          </a:xfrm>
          <a:prstGeom prst="rect">
            <a:avLst/>
          </a:prstGeom>
          <a:solidFill>
            <a:srgbClr val="C256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8F92A70-796E-4813-8413-26F367C1555A}"/>
              </a:ext>
            </a:extLst>
          </p:cNvPr>
          <p:cNvSpPr txBox="1"/>
          <p:nvPr/>
        </p:nvSpPr>
        <p:spPr>
          <a:xfrm>
            <a:off x="6451600" y="4267200"/>
            <a:ext cx="46482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8C3A1B"/>
                </a:solidFill>
                <a:latin typeface="Segoe UI"/>
                <a:cs typeface="Segoe UI"/>
              </a:rPr>
              <a:t>Numbers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8159E79-F5C5-4B5A-9C20-29B2699E6DF3}"/>
              </a:ext>
            </a:extLst>
          </p:cNvPr>
          <p:cNvSpPr txBox="1"/>
          <p:nvPr/>
        </p:nvSpPr>
        <p:spPr>
          <a:xfrm>
            <a:off x="6451600" y="4546600"/>
            <a:ext cx="4648200" cy="584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>
                <a:solidFill>
                  <a:srgbClr val="22201D"/>
                </a:solidFill>
                <a:latin typeface="Segoe UI"/>
                <a:cs typeface="Segoe UI"/>
              </a:rPr>
              <a:t>Print every prime number up to 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E7BF146-97ED-4B7B-BCA0-C784EC92E132}"/>
              </a:ext>
            </a:extLst>
          </p:cNvPr>
          <p:cNvSpPr txBox="1"/>
          <p:nvPr/>
        </p:nvSpPr>
        <p:spPr>
          <a:xfrm>
            <a:off x="6451600" y="5156200"/>
            <a:ext cx="46482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2F5D50"/>
                </a:solidFill>
                <a:latin typeface="Segoe UI"/>
                <a:cs typeface="Segoe UI"/>
              </a:rPr>
              <a:t>Test divisors only up to the square root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7552DA8-6D22-4B41-830A-6C939577DD13}"/>
              </a:ext>
            </a:extLst>
          </p:cNvPr>
          <p:cNvSpPr txBox="1"/>
          <p:nvPr/>
        </p:nvSpPr>
        <p:spPr>
          <a:xfrm>
            <a:off x="6451600" y="5461000"/>
            <a:ext cx="46482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4A463F"/>
                </a:solidFill>
                <a:latin typeface="Consolas"/>
              </a:rPr>
              <a:t>Java: for (i=2; i*i&lt;=n; i++) · sieve if big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D8E9D2F-8731-4284-ABDC-52B104B68F4D}"/>
              </a:ext>
            </a:extLst>
          </p:cNvPr>
          <p:cNvSpPr txBox="1"/>
          <p:nvPr/>
        </p:nvSpPr>
        <p:spPr>
          <a:xfrm>
            <a:off x="838200" y="6146800"/>
            <a:ext cx="105156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575249"/>
                </a:solidFill>
                <a:latin typeface="Segoe UI"/>
                <a:cs typeface="Segoe UI"/>
              </a:rPr>
              <a:t>Write the brute-force version first and get it accepted; optimise only if the test cases time out.</a:t>
            </a:r>
          </a:p>
        </p:txBody>
      </p:sp>
    </p:spTree>
    <p:extLst>
      <p:ext uri="{BB962C8B-B14F-4D97-AF65-F5344CB8AC3E}">
        <p14:creationId xmlns:p14="http://schemas.microsoft.com/office/powerpoint/2010/main" val="3875621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44742-F265-10D5-7F55-37BE6B31B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/>
              <a:t>One solution written out: second largest, read from stdin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079AB23-79CD-4433-A206-ED6DADC4CA1F}"/>
              </a:ext>
            </a:extLst>
          </p:cNvPr>
          <p:cNvSpPr/>
          <p:nvPr/>
        </p:nvSpPr>
        <p:spPr>
          <a:xfrm>
            <a:off x="838200" y="2108200"/>
            <a:ext cx="6604000" cy="3886200"/>
          </a:xfrm>
          <a:prstGeom prst="rect">
            <a:avLst/>
          </a:prstGeom>
          <a:solidFill>
            <a:srgbClr val="22201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FA849C-80A8-4382-9450-D8A432806119}"/>
              </a:ext>
            </a:extLst>
          </p:cNvPr>
          <p:cNvSpPr txBox="1"/>
          <p:nvPr/>
        </p:nvSpPr>
        <p:spPr>
          <a:xfrm>
            <a:off x="1092200" y="2286000"/>
            <a:ext cx="6146800" cy="35306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250">
                <a:solidFill>
                  <a:srgbClr val="FBF8F3"/>
                </a:solidFill>
                <a:latin typeface="Consolas"/>
              </a:rPr>
              <a:t>import java.util.*;
public class Solution {
    public static void main(String[] args) {
        Scanner sc = new Scanner(System.in);
        int n = sc.nextInt();
        int max = Integer.MIN_VALUE;
        int second = Integer.MIN_VALUE;
        for (int i = 0; i &lt; n; i++) {
            int x = sc.nextInt();
            if (x &gt; max) { second = max; max = x; }
            else if (x &lt; max &amp;&amp; x &gt; second) { second = x; }
        }
        System.out.println(second);
    }
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F4E0AD8-16A3-4DB4-A5C2-CB5A4E653604}"/>
              </a:ext>
            </a:extLst>
          </p:cNvPr>
          <p:cNvSpPr/>
          <p:nvPr/>
        </p:nvSpPr>
        <p:spPr>
          <a:xfrm>
            <a:off x="7747000" y="2108200"/>
            <a:ext cx="3606800" cy="3886200"/>
          </a:xfrm>
          <a:prstGeom prst="rect">
            <a:avLst/>
          </a:prstGeom>
          <a:solidFill>
            <a:srgbClr val="EDE7D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0927BF-01CC-4010-8DE6-115571FB444E}"/>
              </a:ext>
            </a:extLst>
          </p:cNvPr>
          <p:cNvSpPr txBox="1"/>
          <p:nvPr/>
        </p:nvSpPr>
        <p:spPr>
          <a:xfrm>
            <a:off x="8001000" y="2311400"/>
            <a:ext cx="30988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>
                <a:solidFill>
                  <a:srgbClr val="22201D"/>
                </a:solidFill>
                <a:latin typeface="Segoe UI"/>
                <a:cs typeface="Segoe UI"/>
              </a:rPr>
              <a:t>What the grader checks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6640F7-2729-46CE-A11B-E502C1B1B4E7}"/>
              </a:ext>
            </a:extLst>
          </p:cNvPr>
          <p:cNvSpPr txBox="1"/>
          <p:nvPr/>
        </p:nvSpPr>
        <p:spPr>
          <a:xfrm>
            <a:off x="8001000" y="2717800"/>
            <a:ext cx="3098800" cy="228100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171450" indent="-171450">
              <a:lnSpc>
                <a:spcPts val="1800"/>
              </a:lnSpc>
              <a:spcAft>
                <a:spcPts val="700"/>
              </a:spcAft>
              <a:buFont typeface="Arial"/>
              <a:buChar char="•"/>
            </a:pPr>
            <a:r>
              <a:rPr lang="en-US" sz="1400" dirty="0">
                <a:solidFill>
                  <a:srgbClr val="3A3733"/>
                </a:solidFill>
              </a:rPr>
              <a:t>Keep the class named Solution.</a:t>
            </a:r>
          </a:p>
          <a:p>
            <a:pPr marL="171450" indent="-171450">
              <a:lnSpc>
                <a:spcPts val="1800"/>
              </a:lnSpc>
              <a:spcAft>
                <a:spcPts val="700"/>
              </a:spcAft>
              <a:buFont typeface="Arial"/>
              <a:buChar char="•"/>
            </a:pPr>
            <a:r>
              <a:rPr lang="en-US" sz="1400" dirty="0">
                <a:solidFill>
                  <a:srgbClr val="3A3733"/>
                </a:solidFill>
              </a:rPr>
              <a:t>Read input with Scanner, never hard-code it.</a:t>
            </a:r>
          </a:p>
          <a:p>
            <a:pPr marL="171450" indent="-171450">
              <a:lnSpc>
                <a:spcPts val="1800"/>
              </a:lnSpc>
              <a:spcAft>
                <a:spcPts val="700"/>
              </a:spcAft>
              <a:buFont typeface="Arial"/>
              <a:buChar char="•"/>
            </a:pPr>
            <a:r>
              <a:rPr lang="en-US" sz="1400" dirty="0">
                <a:solidFill>
                  <a:srgbClr val="3A3733"/>
                </a:solidFill>
              </a:rPr>
              <a:t>Print only the answer, with no prompts.</a:t>
            </a:r>
          </a:p>
          <a:p>
            <a:pPr marL="171450" indent="-171450">
              <a:lnSpc>
                <a:spcPts val="1800"/>
              </a:lnSpc>
              <a:spcAft>
                <a:spcPts val="700"/>
              </a:spcAft>
              <a:buFont typeface="Arial"/>
              <a:buChar char="•"/>
            </a:pPr>
            <a:r>
              <a:rPr lang="en-US" sz="1400" dirty="0">
                <a:solidFill>
                  <a:srgbClr val="3A3733"/>
                </a:solidFill>
              </a:rPr>
              <a:t>Handle n &lt; 2 and repeated values.</a:t>
            </a:r>
          </a:p>
          <a:p>
            <a:pPr marL="171450" indent="-171450">
              <a:lnSpc>
                <a:spcPts val="1800"/>
              </a:lnSpc>
              <a:buFont typeface="Arial"/>
              <a:buChar char="•"/>
            </a:pPr>
            <a:r>
              <a:rPr lang="en-US" sz="1400" dirty="0">
                <a:solidFill>
                  <a:srgbClr val="3A3733"/>
                </a:solidFill>
              </a:rPr>
              <a:t>Use long if values can pass 2 billion.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43053B-2A27-4249-A20E-83282347BB20}"/>
              </a:ext>
            </a:extLst>
          </p:cNvPr>
          <p:cNvSpPr txBox="1"/>
          <p:nvPr/>
        </p:nvSpPr>
        <p:spPr>
          <a:xfrm>
            <a:off x="838200" y="6121400"/>
            <a:ext cx="105156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575249"/>
                </a:solidFill>
                <a:latin typeface="Segoe UI"/>
                <a:cs typeface="Segoe UI"/>
              </a:rPr>
              <a:t>Practise on HackerRank's Java and Problem Solving tracks; the placement coding round sits at easy to easy-medium level.</a:t>
            </a:r>
          </a:p>
        </p:txBody>
      </p:sp>
    </p:spTree>
    <p:extLst>
      <p:ext uri="{BB962C8B-B14F-4D97-AF65-F5344CB8AC3E}">
        <p14:creationId xmlns:p14="http://schemas.microsoft.com/office/powerpoint/2010/main" val="37937859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53292-A9C6-0294-2A18-51B10B17A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/>
              <a:t>The two string questions, written out in full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6220B56-AA6B-46CF-8570-C9F4FCE24E71}"/>
              </a:ext>
            </a:extLst>
          </p:cNvPr>
          <p:cNvSpPr/>
          <p:nvPr/>
        </p:nvSpPr>
        <p:spPr>
          <a:xfrm>
            <a:off x="838200" y="2108200"/>
            <a:ext cx="6604000" cy="3886200"/>
          </a:xfrm>
          <a:prstGeom prst="rect">
            <a:avLst/>
          </a:prstGeom>
          <a:solidFill>
            <a:srgbClr val="22201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721AC2-281F-4E0B-B2AA-EA1BA43404D3}"/>
              </a:ext>
            </a:extLst>
          </p:cNvPr>
          <p:cNvSpPr txBox="1"/>
          <p:nvPr/>
        </p:nvSpPr>
        <p:spPr>
          <a:xfrm>
            <a:off x="1066800" y="2260600"/>
            <a:ext cx="6248400" cy="3581400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1100">
                <a:solidFill>
                  <a:srgbClr val="FBF8F3"/>
                </a:solidFill>
                <a:latin typeface="Consolas"/>
              </a:rPr>
              <a:t>import java.util.*;
static boolean isPalindrome(String s) {
    String t = s.replaceAll("[^A-Za-z0-9]", "")
                .toLowerCase();
    int i = 0, j = t.length() - 1;
    while (i &lt; j) {
        if (t.charAt(i) != t.charAt(j)) return false;
        i++; j--;
    }
    return true;
}
static char firstUnique(String s) {
    Map&lt;Character, Integer&gt; c = new LinkedHashMap&lt;&gt;();
    for (char ch : s.toCharArray())
        c.merge(ch, 1, Integer::sum);
    for (Map.Entry&lt;Character, Integer&gt; e : c.entrySet())
        if (e.getValue() == 1) return e.getKey();
    return '_';
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B71DD63-7DA3-4130-9CA9-F931F449057E}"/>
              </a:ext>
            </a:extLst>
          </p:cNvPr>
          <p:cNvSpPr/>
          <p:nvPr/>
        </p:nvSpPr>
        <p:spPr>
          <a:xfrm>
            <a:off x="7747000" y="2108200"/>
            <a:ext cx="3606800" cy="3886200"/>
          </a:xfrm>
          <a:prstGeom prst="rect">
            <a:avLst/>
          </a:prstGeom>
          <a:solidFill>
            <a:srgbClr val="EDE7D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12E481-8837-43E8-98D4-3EA8A9F78E54}"/>
              </a:ext>
            </a:extLst>
          </p:cNvPr>
          <p:cNvSpPr txBox="1"/>
          <p:nvPr/>
        </p:nvSpPr>
        <p:spPr>
          <a:xfrm>
            <a:off x="8001000" y="2311400"/>
            <a:ext cx="30988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>
                <a:solidFill>
                  <a:srgbClr val="22201D"/>
                </a:solidFill>
                <a:latin typeface="Segoe UI"/>
                <a:cs typeface="Segoe UI"/>
              </a:rPr>
              <a:t>Where people lose marks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27035D-0DA2-475F-907B-F614B541E729}"/>
              </a:ext>
            </a:extLst>
          </p:cNvPr>
          <p:cNvSpPr txBox="1"/>
          <p:nvPr/>
        </p:nvSpPr>
        <p:spPr>
          <a:xfrm>
            <a:off x="8001000" y="2717800"/>
            <a:ext cx="3098800" cy="274267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171450" indent="-171450">
              <a:lnSpc>
                <a:spcPts val="1800"/>
              </a:lnSpc>
              <a:spcAft>
                <a:spcPts val="700"/>
              </a:spcAft>
              <a:buFont typeface="Arial"/>
              <a:buChar char="•"/>
            </a:pPr>
            <a:r>
              <a:rPr lang="en-US" sz="1400" dirty="0">
                <a:solidFill>
                  <a:srgbClr val="3A3733"/>
                </a:solidFill>
              </a:rPr>
              <a:t>Strip spaces and punctuation before comparing.</a:t>
            </a:r>
          </a:p>
          <a:p>
            <a:pPr marL="171450" indent="-171450">
              <a:lnSpc>
                <a:spcPts val="1800"/>
              </a:lnSpc>
              <a:spcAft>
                <a:spcPts val="700"/>
              </a:spcAft>
              <a:buFont typeface="Arial"/>
              <a:buChar char="•"/>
            </a:pPr>
            <a:r>
              <a:rPr lang="en-US" sz="1400" dirty="0">
                <a:solidFill>
                  <a:srgbClr val="3A3733"/>
                </a:solidFill>
              </a:rPr>
              <a:t>Compare with charAt, not substring in a loop.</a:t>
            </a:r>
          </a:p>
          <a:p>
            <a:pPr marL="171450" indent="-171450">
              <a:lnSpc>
                <a:spcPts val="1800"/>
              </a:lnSpc>
              <a:spcAft>
                <a:spcPts val="700"/>
              </a:spcAft>
              <a:buFont typeface="Arial"/>
              <a:buChar char="•"/>
            </a:pPr>
            <a:r>
              <a:rPr lang="en-US" sz="1400" dirty="0">
                <a:solidFill>
                  <a:srgbClr val="3A3733"/>
                </a:solidFill>
              </a:rPr>
              <a:t>Strings are immutable: build with StringBuilder.</a:t>
            </a:r>
          </a:p>
          <a:p>
            <a:pPr marL="171450" indent="-171450">
              <a:lnSpc>
                <a:spcPts val="1800"/>
              </a:lnSpc>
              <a:spcAft>
                <a:spcPts val="700"/>
              </a:spcAft>
              <a:buFont typeface="Arial"/>
              <a:buChar char="•"/>
            </a:pPr>
            <a:r>
              <a:rPr lang="en-US" sz="1400" dirty="0">
                <a:solidFill>
                  <a:srgbClr val="3A3733"/>
                </a:solidFill>
              </a:rPr>
              <a:t>LinkedHashMap keeps insertion order; HashMap does not.</a:t>
            </a:r>
          </a:p>
          <a:p>
            <a:pPr marL="171450" indent="-171450">
              <a:lnSpc>
                <a:spcPts val="1800"/>
              </a:lnSpc>
              <a:buFont typeface="Arial"/>
              <a:buChar char="•"/>
            </a:pPr>
            <a:r>
              <a:rPr lang="en-US" sz="1400" dirty="0">
                <a:solidFill>
                  <a:srgbClr val="3A3733"/>
                </a:solidFill>
              </a:rPr>
              <a:t>Return a sentinel when no character qualifies.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9D5755-5A4B-4B0D-AA9E-045BE379630B}"/>
              </a:ext>
            </a:extLst>
          </p:cNvPr>
          <p:cNvSpPr txBox="1"/>
          <p:nvPr/>
        </p:nvSpPr>
        <p:spPr>
          <a:xfrm>
            <a:off x="838200" y="6121400"/>
            <a:ext cx="105156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575249"/>
                </a:solidFill>
                <a:latin typeface="Segoe UI"/>
                <a:cs typeface="Segoe UI"/>
              </a:rPr>
              <a:t>Both run in one pass over the string, so they pass the time limit even at a million characters.</a:t>
            </a:r>
          </a:p>
        </p:txBody>
      </p:sp>
    </p:spTree>
    <p:extLst>
      <p:ext uri="{BB962C8B-B14F-4D97-AF65-F5344CB8AC3E}">
        <p14:creationId xmlns:p14="http://schemas.microsoft.com/office/powerpoint/2010/main" val="24237815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90611487895]">
  <a:themeElements>
    <a:clrScheme name="Office">
      <a:dk1>
        <a:srgbClr val="22201D"/>
      </a:dk1>
      <a:lt1>
        <a:srgbClr val="FBF8F3"/>
      </a:lt1>
      <a:dk2>
        <a:srgbClr val="2F5D50"/>
      </a:dk2>
      <a:lt2>
        <a:srgbClr val="EDE7DC"/>
      </a:lt2>
      <a:accent1>
        <a:srgbClr val="C2562E"/>
      </a:accent1>
      <a:accent2>
        <a:srgbClr val="2F5D50"/>
      </a:accent2>
      <a:accent3>
        <a:srgbClr val="9A7B4F"/>
      </a:accent3>
      <a:accent4>
        <a:srgbClr val="6B6560"/>
      </a:accent4>
      <a:accent5>
        <a:srgbClr val="8C3A1B"/>
      </a:accent5>
      <a:accent6>
        <a:srgbClr val="4A7C6F"/>
      </a:accent6>
      <a:hlink>
        <a:srgbClr val="467886"/>
      </a:hlink>
      <a:folHlink>
        <a:srgbClr val="96607D"/>
      </a:folHlink>
    </a:clrScheme>
    <a:fontScheme name="Office">
      <a:majorFont>
        <a:latin typeface="Georgia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82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99C5CB3-961C-4F1B-9D76-A5032828B16A}">
  <we:reference id="f5f369e5-aa35-49d7-ad7b-638152ddb008" version="1.0.0.1" store="EXCatalog" storeType="EXCatalog"/>
  <we:alternateReferences>
    <we:reference id="WA200010001" version="1.0.0.1" store="en-US" storeType="OMEX"/>
  </we:alternateReferences>
  <we:properties>
    <we:property name="claude.fileId" value="&quot;b6a52aae-eb64-47d4-b408-267f6d75fadb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1374</TotalTime>
  <Words>2254</Words>
  <Application>Microsoft Office PowerPoint</Application>
  <PresentationFormat>Widescreen</PresentationFormat>
  <Paragraphs>227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Consolas</vt:lpstr>
      <vt:lpstr>Georgia</vt:lpstr>
      <vt:lpstr>Segoe UI</vt:lpstr>
      <vt:lpstr>Office Theme [1790611487895]</vt:lpstr>
      <vt:lpstr>PowerPoint Presentation</vt:lpstr>
      <vt:lpstr>Every IT placement test is the same four sections, answered in under 90 seconds each</vt:lpstr>
      <vt:lpstr>Three weeks, three jobs: build the concepts, then the speed, then the exam day</vt:lpstr>
      <vt:lpstr>What to cover, week by week</vt:lpstr>
      <vt:lpstr>Quick links: six sites cover the whole three weeks</vt:lpstr>
      <vt:lpstr>Two and a half hours a day, and no new topics in the last 48</vt:lpstr>
      <vt:lpstr>Week 1, day by day: build the concepts</vt:lpstr>
      <vt:lpstr>Week 2, day by day: build the speed</vt:lpstr>
      <vt:lpstr>Week 3, day by day: sit the mocks</vt:lpstr>
      <vt:lpstr>Sample questions: how the quant section actually asks it</vt:lpstr>
      <vt:lpstr>Sample questions: reasoning and verbal</vt:lpstr>
      <vt:lpstr>Coding round: four HackerRank problems that keep coming back</vt:lpstr>
      <vt:lpstr>One solution written out: second largest, read from stdin</vt:lpstr>
      <vt:lpstr>The two string questions, written out in full</vt:lpstr>
    </vt:vector>
  </TitlesOfParts>
  <Company>Cognizant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Palavesamuthu, Umadevi (Cognizant)</dc:creator>
  <cp:lastModifiedBy>Palavesamuthu, Umadevi (Cognizant)</cp:lastModifiedBy>
  <cp:revision>2</cp:revision>
  <dcterms:created xsi:type="dcterms:W3CDTF">2026-09-28T16:04:47Z</dcterms:created>
  <dcterms:modified xsi:type="dcterms:W3CDTF">2026-09-29T14:59:20Z</dcterms:modified>
</cp:coreProperties>
</file>